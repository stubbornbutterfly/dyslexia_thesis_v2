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845138"/>
            <a:ext cx="188846" cy="188846"/>
          </a:xfrm>
          <a:prstGeom prst="ellipse">
            <a:avLst/>
          </a:prstGeom>
          <a:solidFill>
            <a:srgbClr val="2F6FA6"/>
          </a:solidFill>
          <a:ln/>
        </p:spPr>
      </p:sp>
      <p:sp>
        <p:nvSpPr>
          <p:cNvPr id="3" name="Shape 1"/>
          <p:cNvSpPr/>
          <p:nvPr/>
        </p:nvSpPr>
        <p:spPr>
          <a:xfrm>
            <a:off x="1369880" y="1845138"/>
            <a:ext cx="188846" cy="188846"/>
          </a:xfrm>
          <a:prstGeom prst="ellipse">
            <a:avLst/>
          </a:prstGeom>
          <a:solidFill>
            <a:srgbClr val="C33F3C"/>
          </a:solidFill>
          <a:ln/>
        </p:spPr>
      </p:sp>
      <p:sp>
        <p:nvSpPr>
          <p:cNvPr id="4" name="Shape 2"/>
          <p:cNvSpPr/>
          <p:nvPr/>
        </p:nvSpPr>
        <p:spPr>
          <a:xfrm>
            <a:off x="1692011" y="1845138"/>
            <a:ext cx="188846" cy="188846"/>
          </a:xfrm>
          <a:prstGeom prst="ellipse">
            <a:avLst/>
          </a:prstGeom>
          <a:solidFill>
            <a:srgbClr val="3A9A55"/>
          </a:solidFill>
          <a:ln/>
        </p:spPr>
      </p:sp>
      <p:sp>
        <p:nvSpPr>
          <p:cNvPr id="5" name="Shape 3"/>
          <p:cNvSpPr/>
          <p:nvPr/>
        </p:nvSpPr>
        <p:spPr>
          <a:xfrm>
            <a:off x="2014141" y="1845138"/>
            <a:ext cx="188846" cy="188846"/>
          </a:xfrm>
          <a:prstGeom prst="ellipse">
            <a:avLst/>
          </a:prstGeom>
          <a:solidFill>
            <a:srgbClr val="8A5CB0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2319734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8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2887101"/>
            <a:ext cx="14519911" cy="2012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12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Probing Cross-Lingual Lexical Representations in Multilingual Large Language Models for Low-Resource Dyslexia Screening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47750" y="5376238"/>
            <a:ext cx="9019418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4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5772121"/>
            <a:ext cx="43134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Ayesha Siddika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24341144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616608" y="5772121"/>
            <a:ext cx="43134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Nazmoon Nahar Aka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22101649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47750" y="6175941"/>
            <a:ext cx="43134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Mashrafi Rahman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24341197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616608" y="6175941"/>
            <a:ext cx="43134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Hasan Mohammad Sayem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22101116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661717" y="5376238"/>
            <a:ext cx="379945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4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61717" y="5772121"/>
            <a:ext cx="3799452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Farig Yousuf Sadeque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661717" y="6156924"/>
            <a:ext cx="379945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Co-supervisor: Mr. Md. Tanzim Reza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47750" y="7132244"/>
            <a:ext cx="3765727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4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47750" y="7528128"/>
            <a:ext cx="376572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BRAC University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47750" y="7931948"/>
            <a:ext cx="3765727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Dept. of CSE · CSE400 · June 2026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0" name="Text 18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15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2950191" cy="1237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Dyslexia is phonological, but Bangla has no screener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4529832"/>
            <a:ext cx="6475947" cy="1615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800" b="1" spc="-414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270M</a:t>
            </a:r>
            <a:pPr algn="l" indent="0" marL="0">
              <a:lnSpc>
                <a:spcPct val="90000"/>
              </a:lnSpc>
              <a:buNone/>
            </a:pPr>
            <a:r>
              <a:rPr lang="en-US" sz="13800" b="1" spc="-41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800" dirty="0"/>
          </a:p>
        </p:txBody>
      </p:sp>
      <p:sp>
        <p:nvSpPr>
          <p:cNvPr id="5" name="Text 3"/>
          <p:cNvSpPr/>
          <p:nvPr/>
        </p:nvSpPr>
        <p:spPr>
          <a:xfrm>
            <a:off x="1047750" y="6373648"/>
            <a:ext cx="4709160" cy="1093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 speakers worldwide, </a:t>
            </a:r>
            <a:pPr algn="l" indent="0" marL="0">
              <a:lnSpc>
                <a:spcPct val="142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no validated, normed dyslexia screener for the language.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8192327" y="3416869"/>
            <a:ext cx="438051" cy="438051"/>
          </a:xfrm>
          <a:prstGeom prst="ellipse">
            <a:avLst/>
          </a:prstGeom>
          <a:ln w="10583">
            <a:solidFill>
              <a:srgbClr val="3B4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64811" y="3427452"/>
            <a:ext cx="493084" cy="454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839895" y="3416869"/>
            <a:ext cx="8652196" cy="1445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Dyslexia is a </a:t>
            </a:r>
            <a:pPr algn="l" indent="0" marL="0">
              <a:lnSpc>
                <a:spcPct val="142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phonological-processing deficit. </a:t>
            </a:r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diagnosis depends on standardised, normed batteries (e.g. CTOPP-2) benchmarked against age and grade norms, and those norms exist for English, not Bangla. That absence is itself a barrier to identifying dyslexia in Bangla.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192327" y="5071342"/>
            <a:ext cx="438051" cy="438051"/>
          </a:xfrm>
          <a:prstGeom prst="ellipse">
            <a:avLst/>
          </a:prstGeom>
          <a:ln w="10583">
            <a:solidFill>
              <a:srgbClr val="3B4F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64811" y="5081925"/>
            <a:ext cx="493084" cy="454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839895" y="5071342"/>
            <a:ext cx="8652196" cy="1093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multilingual LLMs are </a:t>
            </a:r>
            <a:pPr algn="l" indent="0" marL="0">
              <a:lnSpc>
                <a:spcPct val="142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on Bangla </a:t>
            </a:r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may already carry transferable, surface-independent phonological structure, the necessary precondition any screener would rely on.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8192327" y="6431135"/>
            <a:ext cx="9047758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3" name="Text 11"/>
          <p:cNvSpPr/>
          <p:nvPr/>
        </p:nvSpPr>
        <p:spPr>
          <a:xfrm>
            <a:off x="8192327" y="6670252"/>
            <a:ext cx="9319191" cy="818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400" b="1" spc="-2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read that phonological structure out in Bangla, without training a thing?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192327" y="7583726"/>
            <a:ext cx="9319191" cy="997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is orthographically opaque, Bangla intermediate; a genuine phonological representation should transfer across that gap, while one that only captures surface statistics should not.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6" name="Text 14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15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&amp; QUESTIONS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2753976" cy="1237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controlled cross-lingual probing study exists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3005336"/>
            <a:ext cx="675460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phonological probing is...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7750" y="3679527"/>
            <a:ext cx="15871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63551" y="3679527"/>
            <a:ext cx="4941143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English-centric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on masked encoders only.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47750" y="4273848"/>
            <a:ext cx="15871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551" y="4273848"/>
            <a:ext cx="442131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Rarely controlled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surface features.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47750" y="4868168"/>
            <a:ext cx="15871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63551" y="4868168"/>
            <a:ext cx="5866522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controlled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four-model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cross-lingual comparison.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8367614" y="3005685"/>
            <a:ext cx="8872637" cy="1113234"/>
          </a:xfrm>
          <a:prstGeom prst="roundRect">
            <a:avLst>
              <a:gd name="adj" fmla="val 5134"/>
            </a:avLst>
          </a:prstGeom>
          <a:solidFill>
            <a:srgbClr val="F1E8D6"/>
          </a:solidFill>
          <a:ln/>
        </p:spPr>
      </p:sp>
      <p:sp>
        <p:nvSpPr>
          <p:cNvPr id="12" name="Text 10"/>
          <p:cNvSpPr/>
          <p:nvPr/>
        </p:nvSpPr>
        <p:spPr>
          <a:xfrm>
            <a:off x="8615164" y="3196185"/>
            <a:ext cx="876234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spc="48" kern="0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643732" y="3259684"/>
            <a:ext cx="7569437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well does each model encode phonological structure in-language (English)?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8367614" y="4271220"/>
            <a:ext cx="8872637" cy="792427"/>
          </a:xfrm>
          <a:prstGeom prst="roundRect">
            <a:avLst>
              <a:gd name="adj" fmla="val 7212"/>
            </a:avLst>
          </a:prstGeom>
          <a:solidFill>
            <a:srgbClr val="F1E8D6"/>
          </a:solidFill>
          <a:ln/>
        </p:spPr>
      </p:sp>
      <p:sp>
        <p:nvSpPr>
          <p:cNvPr id="15" name="Text 13"/>
          <p:cNvSpPr/>
          <p:nvPr/>
        </p:nvSpPr>
        <p:spPr>
          <a:xfrm>
            <a:off x="8615164" y="4461720"/>
            <a:ext cx="876234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spc="48" kern="0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43732" y="4525219"/>
            <a:ext cx="7001061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that structure transfer zero-shot from English to Bangla?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367614" y="5215947"/>
            <a:ext cx="8872637" cy="792428"/>
          </a:xfrm>
          <a:prstGeom prst="roundRect">
            <a:avLst>
              <a:gd name="adj" fmla="val 7212"/>
            </a:avLst>
          </a:prstGeom>
          <a:solidFill>
            <a:srgbClr val="F1E8D6"/>
          </a:solidFill>
          <a:ln/>
        </p:spPr>
      </p:sp>
      <p:sp>
        <p:nvSpPr>
          <p:cNvPr id="18" name="Text 16"/>
          <p:cNvSpPr/>
          <p:nvPr/>
        </p:nvSpPr>
        <p:spPr>
          <a:xfrm>
            <a:off x="8615164" y="5406447"/>
            <a:ext cx="876234" cy="44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spc="48" kern="0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643732" y="5469948"/>
            <a:ext cx="5413797" cy="372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the cross-lingual lexical signal live?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8367614" y="6160676"/>
            <a:ext cx="8872637" cy="792427"/>
          </a:xfrm>
          <a:prstGeom prst="roundRect">
            <a:avLst>
              <a:gd name="adj" fmla="val 7212"/>
            </a:avLst>
          </a:prstGeom>
          <a:solidFill>
            <a:srgbClr val="F1E8D6"/>
          </a:solidFill>
          <a:ln/>
        </p:spPr>
      </p:sp>
      <p:sp>
        <p:nvSpPr>
          <p:cNvPr id="21" name="Text 19"/>
          <p:cNvSpPr/>
          <p:nvPr/>
        </p:nvSpPr>
        <p:spPr>
          <a:xfrm>
            <a:off x="8615164" y="6351176"/>
            <a:ext cx="876234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spc="48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643732" y="6414676"/>
            <a:ext cx="5186923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model family is best, and for what use?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4" name="Text 22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15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strands touch the problem, none covers all six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100626"/>
            <a:ext cx="14716126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work spans cross-lingual transfer, phonological probing, dyslexia screening, and mechanistic interpretability. We score each strand on the six requirements this study needs to hold together.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47750" y="3042323"/>
            <a:ext cx="64770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" name="Text 4"/>
          <p:cNvSpPr/>
          <p:nvPr/>
        </p:nvSpPr>
        <p:spPr>
          <a:xfrm>
            <a:off x="7543801" y="3042323"/>
            <a:ext cx="1261996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Phono. structure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8843897" y="3042323"/>
            <a:ext cx="1806707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Cross-lingual transfer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0688705" y="3042323"/>
            <a:ext cx="1851025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Low-resource (Bangla)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12577829" y="3042323"/>
            <a:ext cx="1158644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controls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13774573" y="3042323"/>
            <a:ext cx="1777769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architectures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15590441" y="3042323"/>
            <a:ext cx="1630759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Mechanistic account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1047750" y="3654668"/>
            <a:ext cx="64770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3808126"/>
            <a:ext cx="6416333" cy="330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Cross-lingual transfer in multilingual LLMs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47750" y="4147951"/>
            <a:ext cx="641633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representations align across languages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524751" y="3654668"/>
            <a:ext cx="1300096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6" name="Text 14"/>
          <p:cNvSpPr/>
          <p:nvPr/>
        </p:nvSpPr>
        <p:spPr>
          <a:xfrm>
            <a:off x="7486651" y="3665251"/>
            <a:ext cx="1376296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17" name="Shape 15"/>
          <p:cNvSpPr/>
          <p:nvPr/>
        </p:nvSpPr>
        <p:spPr>
          <a:xfrm>
            <a:off x="8824847" y="3654668"/>
            <a:ext cx="1844807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8" name="Text 16"/>
          <p:cNvSpPr/>
          <p:nvPr/>
        </p:nvSpPr>
        <p:spPr>
          <a:xfrm>
            <a:off x="8786747" y="3665251"/>
            <a:ext cx="1921007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19" name="Shape 17"/>
          <p:cNvSpPr/>
          <p:nvPr/>
        </p:nvSpPr>
        <p:spPr>
          <a:xfrm>
            <a:off x="10669655" y="3654668"/>
            <a:ext cx="1889125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0" name="Text 18"/>
          <p:cNvSpPr/>
          <p:nvPr/>
        </p:nvSpPr>
        <p:spPr>
          <a:xfrm>
            <a:off x="10631555" y="3665251"/>
            <a:ext cx="1965325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21" name="Shape 19"/>
          <p:cNvSpPr/>
          <p:nvPr/>
        </p:nvSpPr>
        <p:spPr>
          <a:xfrm>
            <a:off x="12558779" y="3654668"/>
            <a:ext cx="1196744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2" name="Text 20"/>
          <p:cNvSpPr/>
          <p:nvPr/>
        </p:nvSpPr>
        <p:spPr>
          <a:xfrm>
            <a:off x="12520679" y="3665251"/>
            <a:ext cx="1272944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23" name="Shape 21"/>
          <p:cNvSpPr/>
          <p:nvPr/>
        </p:nvSpPr>
        <p:spPr>
          <a:xfrm>
            <a:off x="13755523" y="3654668"/>
            <a:ext cx="181586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7423" y="3665251"/>
            <a:ext cx="189206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25" name="Shape 23"/>
          <p:cNvSpPr/>
          <p:nvPr/>
        </p:nvSpPr>
        <p:spPr>
          <a:xfrm>
            <a:off x="15571391" y="3654668"/>
            <a:ext cx="166885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6" name="Text 24"/>
          <p:cNvSpPr/>
          <p:nvPr/>
        </p:nvSpPr>
        <p:spPr>
          <a:xfrm>
            <a:off x="15533291" y="3665251"/>
            <a:ext cx="174505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27" name="Shape 25"/>
          <p:cNvSpPr/>
          <p:nvPr/>
        </p:nvSpPr>
        <p:spPr>
          <a:xfrm>
            <a:off x="1047750" y="4528951"/>
            <a:ext cx="64770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8" name="Text 26"/>
          <p:cNvSpPr/>
          <p:nvPr/>
        </p:nvSpPr>
        <p:spPr>
          <a:xfrm>
            <a:off x="1047750" y="4682409"/>
            <a:ext cx="6416333" cy="330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Phonological / sub-lexical probing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047750" y="5022233"/>
            <a:ext cx="641633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Control-task critique pushed the field toward sanity checks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524751" y="4528951"/>
            <a:ext cx="1300096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1" name="Text 29"/>
          <p:cNvSpPr/>
          <p:nvPr/>
        </p:nvSpPr>
        <p:spPr>
          <a:xfrm>
            <a:off x="7486651" y="4539534"/>
            <a:ext cx="1376296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32" name="Shape 30"/>
          <p:cNvSpPr/>
          <p:nvPr/>
        </p:nvSpPr>
        <p:spPr>
          <a:xfrm>
            <a:off x="8824847" y="4528951"/>
            <a:ext cx="1844807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3" name="Text 31"/>
          <p:cNvSpPr/>
          <p:nvPr/>
        </p:nvSpPr>
        <p:spPr>
          <a:xfrm>
            <a:off x="8786747" y="4539534"/>
            <a:ext cx="1921007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34" name="Shape 32"/>
          <p:cNvSpPr/>
          <p:nvPr/>
        </p:nvSpPr>
        <p:spPr>
          <a:xfrm>
            <a:off x="10669655" y="4528951"/>
            <a:ext cx="1889125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5" name="Text 33"/>
          <p:cNvSpPr/>
          <p:nvPr/>
        </p:nvSpPr>
        <p:spPr>
          <a:xfrm>
            <a:off x="10631555" y="4539534"/>
            <a:ext cx="1965325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36" name="Shape 34"/>
          <p:cNvSpPr/>
          <p:nvPr/>
        </p:nvSpPr>
        <p:spPr>
          <a:xfrm>
            <a:off x="12558779" y="4528951"/>
            <a:ext cx="1196744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7" name="Text 35"/>
          <p:cNvSpPr/>
          <p:nvPr/>
        </p:nvSpPr>
        <p:spPr>
          <a:xfrm>
            <a:off x="12520679" y="4539534"/>
            <a:ext cx="1272944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38" name="Shape 36"/>
          <p:cNvSpPr/>
          <p:nvPr/>
        </p:nvSpPr>
        <p:spPr>
          <a:xfrm>
            <a:off x="13755523" y="4528951"/>
            <a:ext cx="181586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9" name="Text 37"/>
          <p:cNvSpPr/>
          <p:nvPr/>
        </p:nvSpPr>
        <p:spPr>
          <a:xfrm>
            <a:off x="13717423" y="4539534"/>
            <a:ext cx="189206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40" name="Shape 38"/>
          <p:cNvSpPr/>
          <p:nvPr/>
        </p:nvSpPr>
        <p:spPr>
          <a:xfrm>
            <a:off x="15571391" y="4528951"/>
            <a:ext cx="166885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1" name="Text 39"/>
          <p:cNvSpPr/>
          <p:nvPr/>
        </p:nvSpPr>
        <p:spPr>
          <a:xfrm>
            <a:off x="15533291" y="4539534"/>
            <a:ext cx="174505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42" name="Shape 40"/>
          <p:cNvSpPr/>
          <p:nvPr/>
        </p:nvSpPr>
        <p:spPr>
          <a:xfrm>
            <a:off x="1047750" y="5403233"/>
            <a:ext cx="64770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3" name="Text 41"/>
          <p:cNvSpPr/>
          <p:nvPr/>
        </p:nvSpPr>
        <p:spPr>
          <a:xfrm>
            <a:off x="1047750" y="5556692"/>
            <a:ext cx="6416333" cy="330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Automated dyslexia screening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047750" y="5896516"/>
            <a:ext cx="641633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Low-resource reading resources and screeners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7524751" y="5403233"/>
            <a:ext cx="1300096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6" name="Text 44"/>
          <p:cNvSpPr/>
          <p:nvPr/>
        </p:nvSpPr>
        <p:spPr>
          <a:xfrm>
            <a:off x="7486651" y="5413816"/>
            <a:ext cx="1376296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47" name="Shape 45"/>
          <p:cNvSpPr/>
          <p:nvPr/>
        </p:nvSpPr>
        <p:spPr>
          <a:xfrm>
            <a:off x="8824847" y="5403233"/>
            <a:ext cx="1844807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8" name="Text 46"/>
          <p:cNvSpPr/>
          <p:nvPr/>
        </p:nvSpPr>
        <p:spPr>
          <a:xfrm>
            <a:off x="8786747" y="5413816"/>
            <a:ext cx="1921007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49" name="Shape 47"/>
          <p:cNvSpPr/>
          <p:nvPr/>
        </p:nvSpPr>
        <p:spPr>
          <a:xfrm>
            <a:off x="10669655" y="5403233"/>
            <a:ext cx="1889125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50" name="Text 48"/>
          <p:cNvSpPr/>
          <p:nvPr/>
        </p:nvSpPr>
        <p:spPr>
          <a:xfrm>
            <a:off x="10631555" y="5413816"/>
            <a:ext cx="1965325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51" name="Shape 49"/>
          <p:cNvSpPr/>
          <p:nvPr/>
        </p:nvSpPr>
        <p:spPr>
          <a:xfrm>
            <a:off x="12558779" y="5403233"/>
            <a:ext cx="1196744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52" name="Text 50"/>
          <p:cNvSpPr/>
          <p:nvPr/>
        </p:nvSpPr>
        <p:spPr>
          <a:xfrm>
            <a:off x="12520679" y="5413816"/>
            <a:ext cx="1272944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53" name="Shape 51"/>
          <p:cNvSpPr/>
          <p:nvPr/>
        </p:nvSpPr>
        <p:spPr>
          <a:xfrm>
            <a:off x="13755523" y="5403233"/>
            <a:ext cx="181586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54" name="Text 52"/>
          <p:cNvSpPr/>
          <p:nvPr/>
        </p:nvSpPr>
        <p:spPr>
          <a:xfrm>
            <a:off x="13717423" y="5413816"/>
            <a:ext cx="189206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55" name="Shape 53"/>
          <p:cNvSpPr/>
          <p:nvPr/>
        </p:nvSpPr>
        <p:spPr>
          <a:xfrm>
            <a:off x="15571391" y="5403233"/>
            <a:ext cx="166885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56" name="Text 54"/>
          <p:cNvSpPr/>
          <p:nvPr/>
        </p:nvSpPr>
        <p:spPr>
          <a:xfrm>
            <a:off x="15533291" y="5413816"/>
            <a:ext cx="174505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57" name="Shape 55"/>
          <p:cNvSpPr/>
          <p:nvPr/>
        </p:nvSpPr>
        <p:spPr>
          <a:xfrm>
            <a:off x="1047750" y="6277516"/>
            <a:ext cx="64770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58" name="Text 56"/>
          <p:cNvSpPr/>
          <p:nvPr/>
        </p:nvSpPr>
        <p:spPr>
          <a:xfrm>
            <a:off x="1047750" y="6430974"/>
            <a:ext cx="6416333" cy="330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Mechanistic interpretability</a:t>
            </a:r>
            <a:endParaRPr lang="en-US" sz="1950" dirty="0"/>
          </a:p>
        </p:txBody>
      </p:sp>
      <p:sp>
        <p:nvSpPr>
          <p:cNvPr id="59" name="Text 57"/>
          <p:cNvSpPr/>
          <p:nvPr/>
        </p:nvSpPr>
        <p:spPr>
          <a:xfrm>
            <a:off x="1047750" y="6770798"/>
            <a:ext cx="641633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Locating circuits in multilingual models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7524751" y="6277516"/>
            <a:ext cx="1300096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1" name="Text 59"/>
          <p:cNvSpPr/>
          <p:nvPr/>
        </p:nvSpPr>
        <p:spPr>
          <a:xfrm>
            <a:off x="7486651" y="6288099"/>
            <a:ext cx="1376296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62" name="Shape 60"/>
          <p:cNvSpPr/>
          <p:nvPr/>
        </p:nvSpPr>
        <p:spPr>
          <a:xfrm>
            <a:off x="8824847" y="6277516"/>
            <a:ext cx="1844807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3" name="Text 61"/>
          <p:cNvSpPr/>
          <p:nvPr/>
        </p:nvSpPr>
        <p:spPr>
          <a:xfrm>
            <a:off x="8786747" y="6288099"/>
            <a:ext cx="1921007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64" name="Shape 62"/>
          <p:cNvSpPr/>
          <p:nvPr/>
        </p:nvSpPr>
        <p:spPr>
          <a:xfrm>
            <a:off x="10669655" y="6277516"/>
            <a:ext cx="1889125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5" name="Text 63"/>
          <p:cNvSpPr/>
          <p:nvPr/>
        </p:nvSpPr>
        <p:spPr>
          <a:xfrm>
            <a:off x="10631555" y="6288099"/>
            <a:ext cx="1965325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66" name="Shape 64"/>
          <p:cNvSpPr/>
          <p:nvPr/>
        </p:nvSpPr>
        <p:spPr>
          <a:xfrm>
            <a:off x="12558779" y="6277516"/>
            <a:ext cx="1196744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7" name="Text 65"/>
          <p:cNvSpPr/>
          <p:nvPr/>
        </p:nvSpPr>
        <p:spPr>
          <a:xfrm>
            <a:off x="12520679" y="6288099"/>
            <a:ext cx="1272944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68" name="Shape 66"/>
          <p:cNvSpPr/>
          <p:nvPr/>
        </p:nvSpPr>
        <p:spPr>
          <a:xfrm>
            <a:off x="13755523" y="6277516"/>
            <a:ext cx="181586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9" name="Text 67"/>
          <p:cNvSpPr/>
          <p:nvPr/>
        </p:nvSpPr>
        <p:spPr>
          <a:xfrm>
            <a:off x="13717423" y="6288099"/>
            <a:ext cx="189206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70" name="Shape 68"/>
          <p:cNvSpPr/>
          <p:nvPr/>
        </p:nvSpPr>
        <p:spPr>
          <a:xfrm>
            <a:off x="15571391" y="6277516"/>
            <a:ext cx="166885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71" name="Text 69"/>
          <p:cNvSpPr/>
          <p:nvPr/>
        </p:nvSpPr>
        <p:spPr>
          <a:xfrm>
            <a:off x="15533291" y="6288099"/>
            <a:ext cx="174505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72" name="Shape 70"/>
          <p:cNvSpPr/>
          <p:nvPr/>
        </p:nvSpPr>
        <p:spPr>
          <a:xfrm>
            <a:off x="1047750" y="7151798"/>
            <a:ext cx="6477001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1047750" y="7151798"/>
            <a:ext cx="6477001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74" name="Text 72"/>
          <p:cNvSpPr/>
          <p:nvPr/>
        </p:nvSpPr>
        <p:spPr>
          <a:xfrm>
            <a:off x="1047750" y="7305256"/>
            <a:ext cx="6416333" cy="330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 (this work)</a:t>
            </a:r>
            <a:endParaRPr lang="en-US" sz="1950" dirty="0"/>
          </a:p>
        </p:txBody>
      </p:sp>
      <p:sp>
        <p:nvSpPr>
          <p:cNvPr id="75" name="Text 73"/>
          <p:cNvSpPr/>
          <p:nvPr/>
        </p:nvSpPr>
        <p:spPr>
          <a:xfrm>
            <a:off x="1047750" y="7645081"/>
            <a:ext cx="641633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Sits at the intersection of all six</a:t>
            </a:r>
            <a:endParaRPr lang="en-US" sz="1500" dirty="0"/>
          </a:p>
        </p:txBody>
      </p:sp>
      <p:sp>
        <p:nvSpPr>
          <p:cNvPr id="76" name="Shape 74"/>
          <p:cNvSpPr/>
          <p:nvPr/>
        </p:nvSpPr>
        <p:spPr>
          <a:xfrm>
            <a:off x="7524751" y="7151798"/>
            <a:ext cx="1300096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7524751" y="7151798"/>
            <a:ext cx="1300096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78" name="Text 76"/>
          <p:cNvSpPr/>
          <p:nvPr/>
        </p:nvSpPr>
        <p:spPr>
          <a:xfrm>
            <a:off x="7486651" y="7162382"/>
            <a:ext cx="1376296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79" name="Shape 77"/>
          <p:cNvSpPr/>
          <p:nvPr/>
        </p:nvSpPr>
        <p:spPr>
          <a:xfrm>
            <a:off x="8824847" y="7151798"/>
            <a:ext cx="1844807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8824847" y="7151798"/>
            <a:ext cx="1844807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81" name="Text 79"/>
          <p:cNvSpPr/>
          <p:nvPr/>
        </p:nvSpPr>
        <p:spPr>
          <a:xfrm>
            <a:off x="8786747" y="7162382"/>
            <a:ext cx="1921007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82" name="Shape 80"/>
          <p:cNvSpPr/>
          <p:nvPr/>
        </p:nvSpPr>
        <p:spPr>
          <a:xfrm>
            <a:off x="10669655" y="7151798"/>
            <a:ext cx="1889125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10669655" y="7151798"/>
            <a:ext cx="1889125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84" name="Text 82"/>
          <p:cNvSpPr/>
          <p:nvPr/>
        </p:nvSpPr>
        <p:spPr>
          <a:xfrm>
            <a:off x="10631555" y="7162382"/>
            <a:ext cx="1965325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85" name="Shape 83"/>
          <p:cNvSpPr/>
          <p:nvPr/>
        </p:nvSpPr>
        <p:spPr>
          <a:xfrm>
            <a:off x="12558779" y="7151798"/>
            <a:ext cx="1196744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12558779" y="7151798"/>
            <a:ext cx="1196744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87" name="Text 85"/>
          <p:cNvSpPr/>
          <p:nvPr/>
        </p:nvSpPr>
        <p:spPr>
          <a:xfrm>
            <a:off x="12520679" y="7162382"/>
            <a:ext cx="1272944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88" name="Shape 86"/>
          <p:cNvSpPr/>
          <p:nvPr/>
        </p:nvSpPr>
        <p:spPr>
          <a:xfrm>
            <a:off x="13755523" y="7151798"/>
            <a:ext cx="1815869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13755523" y="7151798"/>
            <a:ext cx="1815869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90" name="Text 88"/>
          <p:cNvSpPr/>
          <p:nvPr/>
        </p:nvSpPr>
        <p:spPr>
          <a:xfrm>
            <a:off x="13717423" y="7162382"/>
            <a:ext cx="189206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91" name="Shape 89"/>
          <p:cNvSpPr/>
          <p:nvPr/>
        </p:nvSpPr>
        <p:spPr>
          <a:xfrm>
            <a:off x="15571391" y="7151798"/>
            <a:ext cx="1668859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15571391" y="7151798"/>
            <a:ext cx="1668859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93" name="Text 91"/>
          <p:cNvSpPr/>
          <p:nvPr/>
        </p:nvSpPr>
        <p:spPr>
          <a:xfrm>
            <a:off x="15533291" y="7162382"/>
            <a:ext cx="174505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94" name="Shape 92"/>
          <p:cNvSpPr/>
          <p:nvPr/>
        </p:nvSpPr>
        <p:spPr>
          <a:xfrm>
            <a:off x="1047750" y="8292648"/>
            <a:ext cx="16192501" cy="961760"/>
          </a:xfrm>
          <a:prstGeom prst="roundRect">
            <a:avLst>
              <a:gd name="adj" fmla="val 3961"/>
            </a:avLst>
          </a:prstGeom>
          <a:solidFill>
            <a:srgbClr val="F1E8D6"/>
          </a:solidFill>
          <a:ln/>
        </p:spPr>
      </p:sp>
      <p:sp>
        <p:nvSpPr>
          <p:cNvPr id="95" name="Shape 93"/>
          <p:cNvSpPr/>
          <p:nvPr/>
        </p:nvSpPr>
        <p:spPr>
          <a:xfrm>
            <a:off x="1047750" y="8292648"/>
            <a:ext cx="52917" cy="96176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96" name="Text 94"/>
          <p:cNvSpPr/>
          <p:nvPr/>
        </p:nvSpPr>
        <p:spPr>
          <a:xfrm>
            <a:off x="1386417" y="8613621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97" name="Text 95"/>
          <p:cNvSpPr/>
          <p:nvPr/>
        </p:nvSpPr>
        <p:spPr>
          <a:xfrm>
            <a:off x="3071647" y="8463967"/>
            <a:ext cx="14299339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work covers pieces; none controls surface confounds across architectures in a low-resource language with a mechanism account.</a:t>
            </a:r>
            <a:endParaRPr lang="en-US" sz="1950" dirty="0"/>
          </a:p>
        </p:txBody>
      </p:sp>
      <p:sp>
        <p:nvSpPr>
          <p:cNvPr id="98" name="Shape 96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99" name="Text 97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100" name="Text 98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15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models map the design space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081609"/>
            <a:ext cx="16678276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axis: pretraining objective. Y axis: language coverage. Bubble size: parameter scale (0.56B to 8B). Badge: verdict.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 rot="10800000">
            <a:off x="1010527" y="2559690"/>
            <a:ext cx="314325" cy="554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spc="135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COVERAGE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420978" y="7630578"/>
            <a:ext cx="15819273" cy="21167"/>
          </a:xfrm>
          <a:prstGeom prst="rect">
            <a:avLst/>
          </a:prstGeom>
          <a:solidFill>
            <a:srgbClr val="908A7C"/>
          </a:solidFill>
          <a:ln/>
        </p:spPr>
      </p:sp>
      <p:sp>
        <p:nvSpPr>
          <p:cNvPr id="7" name="Shape 5"/>
          <p:cNvSpPr/>
          <p:nvPr/>
        </p:nvSpPr>
        <p:spPr>
          <a:xfrm>
            <a:off x="1420978" y="2561988"/>
            <a:ext cx="21167" cy="5089757"/>
          </a:xfrm>
          <a:prstGeom prst="rect">
            <a:avLst/>
          </a:prstGeom>
          <a:solidFill>
            <a:srgbClr val="908A7C"/>
          </a:solidFill>
          <a:ln/>
        </p:spPr>
      </p:sp>
      <p:sp>
        <p:nvSpPr>
          <p:cNvPr id="8" name="Shape 6"/>
          <p:cNvSpPr/>
          <p:nvPr/>
        </p:nvSpPr>
        <p:spPr>
          <a:xfrm>
            <a:off x="6702889" y="2561988"/>
            <a:ext cx="9525" cy="5068590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9" name="Shape 7"/>
          <p:cNvSpPr/>
          <p:nvPr/>
        </p:nvSpPr>
        <p:spPr>
          <a:xfrm>
            <a:off x="11963633" y="2561988"/>
            <a:ext cx="9525" cy="5068590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0" name="Shape 8"/>
          <p:cNvSpPr/>
          <p:nvPr/>
        </p:nvSpPr>
        <p:spPr>
          <a:xfrm>
            <a:off x="1442145" y="5349704"/>
            <a:ext cx="15798107" cy="9525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1" name="Text 9"/>
          <p:cNvSpPr/>
          <p:nvPr/>
        </p:nvSpPr>
        <p:spPr>
          <a:xfrm>
            <a:off x="1575428" y="2657238"/>
            <a:ext cx="1966483" cy="291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spc="29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+ Bangla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575428" y="7282155"/>
            <a:ext cx="1349838" cy="291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spc="29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English-heavy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3632399" y="3587248"/>
            <a:ext cx="990534" cy="990534"/>
          </a:xfrm>
          <a:prstGeom prst="ellipse">
            <a:avLst/>
          </a:prstGeom>
          <a:solidFill>
            <a:srgbClr val="2F6FA6"/>
          </a:solidFill>
          <a:ln/>
          <a:effectLst>
            <a:outerShdw sx="100000" sy="100000" kx="0" ky="0" algn="bl" rotWithShape="0" blurRad="247650" dist="9525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8418" y="3835791"/>
            <a:ext cx="758494" cy="257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25" b="1" spc="-1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XLM-R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3873765" y="4102524"/>
            <a:ext cx="507802" cy="264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0.56B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3619004" y="4417709"/>
            <a:ext cx="1017323" cy="3029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2F6FA6"/>
            </a:solidFill>
            <a:prstDash val="solid"/>
          </a:ln>
          <a:effectLst>
            <a:outerShdw sx="100000" sy="100000" kx="0" ky="0" algn="bl" rotWithShape="0" blurRad="133350" dist="47625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15312" y="4475917"/>
            <a:ext cx="824706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52" kern="0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579115" y="3117778"/>
            <a:ext cx="1524000" cy="1524000"/>
          </a:xfrm>
          <a:prstGeom prst="ellipse">
            <a:avLst/>
          </a:prstGeom>
          <a:solidFill>
            <a:srgbClr val="3A9A55"/>
          </a:solidFill>
          <a:ln/>
          <a:effectLst>
            <a:outerShdw sx="100000" sy="100000" kx="0" ky="0" algn="bl" rotWithShape="0" blurRad="247650" dist="95250" dir="54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01014" y="3633054"/>
            <a:ext cx="880203" cy="257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25" b="1" spc="-1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9132193" y="3899787"/>
            <a:ext cx="417843" cy="264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7.1B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8817323" y="4481705"/>
            <a:ext cx="1047585" cy="3029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3A9A55"/>
            </a:solidFill>
            <a:prstDash val="solid"/>
          </a:ln>
          <a:effectLst>
            <a:outerShdw sx="100000" sy="100000" kx="0" ky="0" algn="bl" rotWithShape="0" blurRad="133350" dist="47625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13631" y="4539914"/>
            <a:ext cx="854968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52" kern="0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3925931" y="3656619"/>
            <a:ext cx="1257267" cy="1257267"/>
          </a:xfrm>
          <a:prstGeom prst="ellipse">
            <a:avLst/>
          </a:prstGeom>
          <a:solidFill>
            <a:srgbClr val="8A5CB0"/>
          </a:solidFill>
          <a:ln/>
          <a:effectLst>
            <a:outerShdw sx="100000" sy="100000" kx="0" ky="0" algn="bl" rotWithShape="0" blurRad="247650" dist="95250" dir="54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4294627" y="4038611"/>
            <a:ext cx="519873" cy="257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25" b="1" spc="-1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14345560" y="4305344"/>
            <a:ext cx="417843" cy="264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3.7B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13822743" y="4753813"/>
            <a:ext cx="1463477" cy="3029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8A5CB0"/>
            </a:solidFill>
            <a:prstDash val="solid"/>
          </a:ln>
          <a:effectLst>
            <a:outerShdw sx="100000" sy="100000" kx="0" ky="0" algn="bl" rotWithShape="0" blurRad="133350" dist="47625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3919052" y="4812021"/>
            <a:ext cx="1270860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52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50590" y="5724834"/>
            <a:ext cx="1581051" cy="1581051"/>
          </a:xfrm>
          <a:prstGeom prst="ellipse">
            <a:avLst/>
          </a:prstGeom>
          <a:solidFill>
            <a:srgbClr val="C33F3C"/>
          </a:solidFill>
          <a:ln/>
          <a:effectLst>
            <a:outerShdw sx="100000" sy="100000" kx="0" ky="0" algn="bl" rotWithShape="0" blurRad="247650" dist="95250" dir="54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992047" y="6268718"/>
            <a:ext cx="698136" cy="257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25" b="1" spc="-1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9199580" y="6535451"/>
            <a:ext cx="283071" cy="264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8B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8460714" y="5581959"/>
            <a:ext cx="1760637" cy="3029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583">
            <a:solidFill>
              <a:srgbClr val="C33F3C"/>
            </a:solidFill>
            <a:prstDash val="solid"/>
          </a:ln>
          <a:effectLst>
            <a:outerShdw sx="100000" sy="100000" kx="0" ky="0" algn="bl" rotWithShape="0" blurRad="133350" dist="47625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557022" y="5640167"/>
            <a:ext cx="1568020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52" kern="0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RECOMMENDED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341883" y="7766011"/>
            <a:ext cx="5431170" cy="304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encoder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614862" y="7766011"/>
            <a:ext cx="5431341" cy="304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decoder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888010" y="7766011"/>
            <a:ext cx="5431170" cy="304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Span-corruption enc-dec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83689" y="8108647"/>
            <a:ext cx="16293851" cy="278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spc="135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PRETRAINING OBJECTIVE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1047750" y="8558108"/>
            <a:ext cx="16192501" cy="662451"/>
          </a:xfrm>
          <a:prstGeom prst="roundRect">
            <a:avLst>
              <a:gd name="adj" fmla="val 5751"/>
            </a:avLst>
          </a:prstGeom>
          <a:solidFill>
            <a:srgbClr val="F1E8D6"/>
          </a:solidFill>
          <a:ln/>
        </p:spPr>
      </p:sp>
      <p:sp>
        <p:nvSpPr>
          <p:cNvPr id="38" name="Shape 36"/>
          <p:cNvSpPr/>
          <p:nvPr/>
        </p:nvSpPr>
        <p:spPr>
          <a:xfrm>
            <a:off x="1047750" y="8558108"/>
            <a:ext cx="52917" cy="662451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39" name="Text 37"/>
          <p:cNvSpPr/>
          <p:nvPr/>
        </p:nvSpPr>
        <p:spPr>
          <a:xfrm>
            <a:off x="1386417" y="8729425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071647" y="8734552"/>
            <a:ext cx="898399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and language coverage, not scale, decide cross-lingual transfer.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2" name="Text 40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original bilingual stimulus set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233910"/>
            <a:ext cx="2394479" cy="2386046"/>
          </a:xfrm>
          <a:prstGeom prst="roundRect">
            <a:avLst>
              <a:gd name="adj" fmla="val 2395"/>
            </a:avLst>
          </a:prstGeom>
          <a:solidFill>
            <a:srgbClr val="F1E8D6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233910"/>
            <a:ext cx="2394479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6" name="Text 4"/>
          <p:cNvSpPr/>
          <p:nvPr/>
        </p:nvSpPr>
        <p:spPr>
          <a:xfrm>
            <a:off x="1276284" y="3029479"/>
            <a:ext cx="201361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b="1" spc="-75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440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1276284" y="3581797"/>
            <a:ext cx="2013612" cy="312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stimulus items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1746" y="2233910"/>
            <a:ext cx="2394645" cy="2386046"/>
          </a:xfrm>
          <a:prstGeom prst="roundRect">
            <a:avLst>
              <a:gd name="adj" fmla="val 2395"/>
            </a:avLst>
          </a:prstGeom>
          <a:solidFill>
            <a:srgbClr val="F1E8D6"/>
          </a:solidFill>
          <a:ln/>
        </p:spPr>
      </p:sp>
      <p:sp>
        <p:nvSpPr>
          <p:cNvPr id="9" name="Shape 7"/>
          <p:cNvSpPr/>
          <p:nvPr/>
        </p:nvSpPr>
        <p:spPr>
          <a:xfrm>
            <a:off x="3651746" y="2233910"/>
            <a:ext cx="2394645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10" name="Text 8"/>
          <p:cNvSpPr/>
          <p:nvPr/>
        </p:nvSpPr>
        <p:spPr>
          <a:xfrm>
            <a:off x="3880280" y="2791354"/>
            <a:ext cx="2013777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b="1" spc="-75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</a:t>
            </a:r>
            <a:pPr algn="l" indent="0" marL="0">
              <a:lnSpc>
                <a:spcPct val="100000"/>
              </a:lnSpc>
              <a:buNone/>
            </a:pPr>
            <a:r>
              <a:rPr lang="en-US" sz="3750" b="1" spc="-75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l" indent="0" marL="0">
              <a:lnSpc>
                <a:spcPct val="100000"/>
              </a:lnSpc>
              <a:buNone/>
            </a:pPr>
            <a:r>
              <a:rPr lang="en-US" sz="3750" b="1" spc="-75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</a:t>
            </a:r>
            <a:endParaRPr lang="en-US" sz="3750" dirty="0"/>
          </a:p>
        </p:txBody>
      </p:sp>
      <p:sp>
        <p:nvSpPr>
          <p:cNvPr id="11" name="Text 9"/>
          <p:cNvSpPr/>
          <p:nvPr/>
        </p:nvSpPr>
        <p:spPr>
          <a:xfrm>
            <a:off x="3880280" y="3819922"/>
            <a:ext cx="2013777" cy="312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+ Bangla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7750" y="4829473"/>
            <a:ext cx="2394479" cy="2386046"/>
          </a:xfrm>
          <a:prstGeom prst="roundRect">
            <a:avLst>
              <a:gd name="adj" fmla="val 2395"/>
            </a:avLst>
          </a:prstGeom>
          <a:solidFill>
            <a:srgbClr val="F1E8D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7750" y="4829473"/>
            <a:ext cx="2394479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14" name="Text 12"/>
          <p:cNvSpPr/>
          <p:nvPr/>
        </p:nvSpPr>
        <p:spPr>
          <a:xfrm>
            <a:off x="1276284" y="5487955"/>
            <a:ext cx="201361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b="1" spc="-75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750" dirty="0"/>
          </a:p>
        </p:txBody>
      </p:sp>
      <p:sp>
        <p:nvSpPr>
          <p:cNvPr id="15" name="Text 13"/>
          <p:cNvSpPr/>
          <p:nvPr/>
        </p:nvSpPr>
        <p:spPr>
          <a:xfrm>
            <a:off x="1276284" y="6040273"/>
            <a:ext cx="2013612" cy="586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phonological categories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51746" y="4829473"/>
            <a:ext cx="2394645" cy="2386046"/>
          </a:xfrm>
          <a:prstGeom prst="roundRect">
            <a:avLst>
              <a:gd name="adj" fmla="val 2395"/>
            </a:avLst>
          </a:prstGeom>
          <a:solidFill>
            <a:srgbClr val="F1E8D6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1746" y="4829473"/>
            <a:ext cx="2394645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18" name="Text 16"/>
          <p:cNvSpPr/>
          <p:nvPr/>
        </p:nvSpPr>
        <p:spPr>
          <a:xfrm>
            <a:off x="3880280" y="5487955"/>
            <a:ext cx="201377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b="1" spc="-75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750" dirty="0"/>
          </a:p>
        </p:txBody>
      </p:sp>
      <p:sp>
        <p:nvSpPr>
          <p:cNvPr id="19" name="Text 17"/>
          <p:cNvSpPr/>
          <p:nvPr/>
        </p:nvSpPr>
        <p:spPr>
          <a:xfrm>
            <a:off x="3880280" y="6040273"/>
            <a:ext cx="2013777" cy="586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columns / item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17891" y="2234518"/>
            <a:ext cx="10941031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Stimulus counts by category (English / Bangla)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6617891" y="3170151"/>
            <a:ext cx="4500728" cy="10583"/>
          </a:xfrm>
          <a:prstGeom prst="rect">
            <a:avLst/>
          </a:prstGeom>
          <a:solidFill>
            <a:srgbClr val="2C2B28"/>
          </a:solidFill>
          <a:ln/>
        </p:spPr>
      </p:sp>
      <p:sp>
        <p:nvSpPr>
          <p:cNvPr id="22" name="Text 20"/>
          <p:cNvSpPr/>
          <p:nvPr/>
        </p:nvSpPr>
        <p:spPr>
          <a:xfrm>
            <a:off x="6789341" y="2790739"/>
            <a:ext cx="4292850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b="1" spc="63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1118619" y="3170151"/>
            <a:ext cx="2186120" cy="10583"/>
          </a:xfrm>
          <a:prstGeom prst="rect">
            <a:avLst/>
          </a:prstGeom>
          <a:solidFill>
            <a:srgbClr val="2C2B28"/>
          </a:solidFill>
          <a:ln/>
        </p:spPr>
      </p:sp>
      <p:sp>
        <p:nvSpPr>
          <p:cNvPr id="24" name="Text 22"/>
          <p:cNvSpPr/>
          <p:nvPr/>
        </p:nvSpPr>
        <p:spPr>
          <a:xfrm>
            <a:off x="11213869" y="2790739"/>
            <a:ext cx="1919420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b="1" spc="63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13304739" y="3170151"/>
            <a:ext cx="2128738" cy="10583"/>
          </a:xfrm>
          <a:prstGeom prst="rect">
            <a:avLst/>
          </a:prstGeom>
          <a:solidFill>
            <a:srgbClr val="2C2B28"/>
          </a:solidFill>
          <a:ln/>
        </p:spPr>
      </p:sp>
      <p:sp>
        <p:nvSpPr>
          <p:cNvPr id="26" name="Text 24"/>
          <p:cNvSpPr/>
          <p:nvPr/>
        </p:nvSpPr>
        <p:spPr>
          <a:xfrm>
            <a:off x="13399989" y="2790739"/>
            <a:ext cx="1862038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b="1" spc="63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</a:t>
            </a:r>
            <a:endParaRPr lang="en-US" sz="1575" dirty="0"/>
          </a:p>
        </p:txBody>
      </p:sp>
      <p:sp>
        <p:nvSpPr>
          <p:cNvPr id="27" name="Shape 25"/>
          <p:cNvSpPr/>
          <p:nvPr/>
        </p:nvSpPr>
        <p:spPr>
          <a:xfrm>
            <a:off x="15433478" y="3170151"/>
            <a:ext cx="1806774" cy="10583"/>
          </a:xfrm>
          <a:prstGeom prst="rect">
            <a:avLst/>
          </a:prstGeom>
          <a:solidFill>
            <a:srgbClr val="2C2B28"/>
          </a:solidFill>
          <a:ln/>
        </p:spPr>
      </p:sp>
      <p:sp>
        <p:nvSpPr>
          <p:cNvPr id="28" name="Text 26"/>
          <p:cNvSpPr/>
          <p:nvPr/>
        </p:nvSpPr>
        <p:spPr>
          <a:xfrm>
            <a:off x="15528728" y="2790739"/>
            <a:ext cx="1540074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b="1" spc="63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6789341" y="3304560"/>
            <a:ext cx="4292850" cy="323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pair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11213869" y="3304560"/>
            <a:ext cx="1919420" cy="323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13399989" y="3304560"/>
            <a:ext cx="1862038" cy="323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15528728" y="3304560"/>
            <a:ext cx="1540074" cy="323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6789341" y="3704047"/>
            <a:ext cx="42928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Multisyllabic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11213869" y="3704047"/>
            <a:ext cx="191942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13399989" y="3704047"/>
            <a:ext cx="1862038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15528728" y="3704047"/>
            <a:ext cx="1540074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575" dirty="0"/>
          </a:p>
        </p:txBody>
      </p:sp>
      <p:sp>
        <p:nvSpPr>
          <p:cNvPr id="37" name="Text 35"/>
          <p:cNvSpPr/>
          <p:nvPr/>
        </p:nvSpPr>
        <p:spPr>
          <a:xfrm>
            <a:off x="6789341" y="4098277"/>
            <a:ext cx="42928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Pseudoword</a:t>
            </a:r>
            <a:endParaRPr lang="en-US" sz="1575" dirty="0"/>
          </a:p>
        </p:txBody>
      </p:sp>
      <p:sp>
        <p:nvSpPr>
          <p:cNvPr id="38" name="Text 36"/>
          <p:cNvSpPr/>
          <p:nvPr/>
        </p:nvSpPr>
        <p:spPr>
          <a:xfrm>
            <a:off x="11213869" y="4098277"/>
            <a:ext cx="191942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575" dirty="0"/>
          </a:p>
        </p:txBody>
      </p:sp>
      <p:sp>
        <p:nvSpPr>
          <p:cNvPr id="39" name="Text 37"/>
          <p:cNvSpPr/>
          <p:nvPr/>
        </p:nvSpPr>
        <p:spPr>
          <a:xfrm>
            <a:off x="13399989" y="4098277"/>
            <a:ext cx="1862038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575" dirty="0"/>
          </a:p>
        </p:txBody>
      </p:sp>
      <p:sp>
        <p:nvSpPr>
          <p:cNvPr id="40" name="Text 38"/>
          <p:cNvSpPr/>
          <p:nvPr/>
        </p:nvSpPr>
        <p:spPr>
          <a:xfrm>
            <a:off x="15528728" y="4098277"/>
            <a:ext cx="1540074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575" dirty="0"/>
          </a:p>
        </p:txBody>
      </p:sp>
      <p:sp>
        <p:nvSpPr>
          <p:cNvPr id="41" name="Text 39"/>
          <p:cNvSpPr/>
          <p:nvPr/>
        </p:nvSpPr>
        <p:spPr>
          <a:xfrm>
            <a:off x="6789341" y="4492506"/>
            <a:ext cx="42928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word</a:t>
            </a:r>
            <a:endParaRPr lang="en-US" sz="1575" dirty="0"/>
          </a:p>
        </p:txBody>
      </p:sp>
      <p:sp>
        <p:nvSpPr>
          <p:cNvPr id="42" name="Text 40"/>
          <p:cNvSpPr/>
          <p:nvPr/>
        </p:nvSpPr>
        <p:spPr>
          <a:xfrm>
            <a:off x="11213869" y="4492506"/>
            <a:ext cx="191942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575" dirty="0"/>
          </a:p>
        </p:txBody>
      </p:sp>
      <p:sp>
        <p:nvSpPr>
          <p:cNvPr id="43" name="Text 41"/>
          <p:cNvSpPr/>
          <p:nvPr/>
        </p:nvSpPr>
        <p:spPr>
          <a:xfrm>
            <a:off x="13399989" y="4492506"/>
            <a:ext cx="1862038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575" dirty="0"/>
          </a:p>
        </p:txBody>
      </p:sp>
      <p:sp>
        <p:nvSpPr>
          <p:cNvPr id="44" name="Text 42"/>
          <p:cNvSpPr/>
          <p:nvPr/>
        </p:nvSpPr>
        <p:spPr>
          <a:xfrm>
            <a:off x="15528728" y="4492506"/>
            <a:ext cx="1540074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575" dirty="0"/>
          </a:p>
        </p:txBody>
      </p:sp>
      <p:sp>
        <p:nvSpPr>
          <p:cNvPr id="45" name="Text 43"/>
          <p:cNvSpPr/>
          <p:nvPr/>
        </p:nvSpPr>
        <p:spPr>
          <a:xfrm>
            <a:off x="6789341" y="4886735"/>
            <a:ext cx="42928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Phoneme-grapheme</a:t>
            </a:r>
            <a:endParaRPr lang="en-US" sz="1575" dirty="0"/>
          </a:p>
        </p:txBody>
      </p:sp>
      <p:sp>
        <p:nvSpPr>
          <p:cNvPr id="46" name="Text 44"/>
          <p:cNvSpPr/>
          <p:nvPr/>
        </p:nvSpPr>
        <p:spPr>
          <a:xfrm>
            <a:off x="11213869" y="4886735"/>
            <a:ext cx="191942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575" dirty="0"/>
          </a:p>
        </p:txBody>
      </p:sp>
      <p:sp>
        <p:nvSpPr>
          <p:cNvPr id="47" name="Text 45"/>
          <p:cNvSpPr/>
          <p:nvPr/>
        </p:nvSpPr>
        <p:spPr>
          <a:xfrm>
            <a:off x="13399989" y="4886735"/>
            <a:ext cx="1862038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575" dirty="0"/>
          </a:p>
        </p:txBody>
      </p:sp>
      <p:sp>
        <p:nvSpPr>
          <p:cNvPr id="48" name="Text 46"/>
          <p:cNvSpPr/>
          <p:nvPr/>
        </p:nvSpPr>
        <p:spPr>
          <a:xfrm>
            <a:off x="15528728" y="4886735"/>
            <a:ext cx="1540074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575" dirty="0"/>
          </a:p>
        </p:txBody>
      </p:sp>
      <p:sp>
        <p:nvSpPr>
          <p:cNvPr id="49" name="Text 47"/>
          <p:cNvSpPr/>
          <p:nvPr/>
        </p:nvSpPr>
        <p:spPr>
          <a:xfrm>
            <a:off x="6789341" y="5280964"/>
            <a:ext cx="42928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Rhyme</a:t>
            </a:r>
            <a:endParaRPr lang="en-US" sz="1575" dirty="0"/>
          </a:p>
        </p:txBody>
      </p:sp>
      <p:sp>
        <p:nvSpPr>
          <p:cNvPr id="50" name="Text 48"/>
          <p:cNvSpPr/>
          <p:nvPr/>
        </p:nvSpPr>
        <p:spPr>
          <a:xfrm>
            <a:off x="11213869" y="5280964"/>
            <a:ext cx="191942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75" dirty="0"/>
          </a:p>
        </p:txBody>
      </p:sp>
      <p:sp>
        <p:nvSpPr>
          <p:cNvPr id="51" name="Text 49"/>
          <p:cNvSpPr/>
          <p:nvPr/>
        </p:nvSpPr>
        <p:spPr>
          <a:xfrm>
            <a:off x="13399989" y="5280964"/>
            <a:ext cx="1862038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75" dirty="0"/>
          </a:p>
        </p:txBody>
      </p:sp>
      <p:sp>
        <p:nvSpPr>
          <p:cNvPr id="52" name="Text 50"/>
          <p:cNvSpPr/>
          <p:nvPr/>
        </p:nvSpPr>
        <p:spPr>
          <a:xfrm>
            <a:off x="15528728" y="5280964"/>
            <a:ext cx="1540074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575" dirty="0"/>
          </a:p>
        </p:txBody>
      </p:sp>
      <p:sp>
        <p:nvSpPr>
          <p:cNvPr id="53" name="Text 51"/>
          <p:cNvSpPr/>
          <p:nvPr/>
        </p:nvSpPr>
        <p:spPr>
          <a:xfrm>
            <a:off x="6789341" y="5675194"/>
            <a:ext cx="4292850" cy="323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</a:t>
            </a:r>
            <a:endParaRPr lang="en-US" sz="1575" dirty="0"/>
          </a:p>
        </p:txBody>
      </p:sp>
      <p:sp>
        <p:nvSpPr>
          <p:cNvPr id="54" name="Text 52"/>
          <p:cNvSpPr/>
          <p:nvPr/>
        </p:nvSpPr>
        <p:spPr>
          <a:xfrm>
            <a:off x="11213869" y="5675194"/>
            <a:ext cx="1919420" cy="323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575" dirty="0"/>
          </a:p>
        </p:txBody>
      </p:sp>
      <p:sp>
        <p:nvSpPr>
          <p:cNvPr id="55" name="Text 53"/>
          <p:cNvSpPr/>
          <p:nvPr/>
        </p:nvSpPr>
        <p:spPr>
          <a:xfrm>
            <a:off x="13399989" y="5675194"/>
            <a:ext cx="1862038" cy="323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575" dirty="0"/>
          </a:p>
        </p:txBody>
      </p:sp>
      <p:sp>
        <p:nvSpPr>
          <p:cNvPr id="56" name="Text 54"/>
          <p:cNvSpPr/>
          <p:nvPr/>
        </p:nvSpPr>
        <p:spPr>
          <a:xfrm>
            <a:off x="15528728" y="5675194"/>
            <a:ext cx="1540074" cy="323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575" dirty="0"/>
          </a:p>
        </p:txBody>
      </p:sp>
      <p:sp>
        <p:nvSpPr>
          <p:cNvPr id="57" name="Shape 55"/>
          <p:cNvSpPr/>
          <p:nvPr/>
        </p:nvSpPr>
        <p:spPr>
          <a:xfrm>
            <a:off x="6617891" y="6017565"/>
            <a:ext cx="4500728" cy="10583"/>
          </a:xfrm>
          <a:prstGeom prst="rect">
            <a:avLst/>
          </a:prstGeom>
          <a:solidFill>
            <a:srgbClr val="908A7C"/>
          </a:solidFill>
          <a:ln/>
        </p:spPr>
      </p:sp>
      <p:sp>
        <p:nvSpPr>
          <p:cNvPr id="58" name="Text 56"/>
          <p:cNvSpPr/>
          <p:nvPr/>
        </p:nvSpPr>
        <p:spPr>
          <a:xfrm>
            <a:off x="6789341" y="6085298"/>
            <a:ext cx="4292850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total</a:t>
            </a:r>
            <a:endParaRPr lang="en-US" sz="1575" dirty="0"/>
          </a:p>
        </p:txBody>
      </p:sp>
      <p:sp>
        <p:nvSpPr>
          <p:cNvPr id="59" name="Shape 57"/>
          <p:cNvSpPr/>
          <p:nvPr/>
        </p:nvSpPr>
        <p:spPr>
          <a:xfrm>
            <a:off x="11118619" y="6017565"/>
            <a:ext cx="2186120" cy="10583"/>
          </a:xfrm>
          <a:prstGeom prst="rect">
            <a:avLst/>
          </a:prstGeom>
          <a:solidFill>
            <a:srgbClr val="908A7C"/>
          </a:solidFill>
          <a:ln/>
        </p:spPr>
      </p:sp>
      <p:sp>
        <p:nvSpPr>
          <p:cNvPr id="60" name="Text 58"/>
          <p:cNvSpPr/>
          <p:nvPr/>
        </p:nvSpPr>
        <p:spPr>
          <a:xfrm>
            <a:off x="11213869" y="6085298"/>
            <a:ext cx="1919420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575" dirty="0"/>
          </a:p>
        </p:txBody>
      </p:sp>
      <p:sp>
        <p:nvSpPr>
          <p:cNvPr id="61" name="Shape 59"/>
          <p:cNvSpPr/>
          <p:nvPr/>
        </p:nvSpPr>
        <p:spPr>
          <a:xfrm>
            <a:off x="13304739" y="6017565"/>
            <a:ext cx="2128738" cy="10583"/>
          </a:xfrm>
          <a:prstGeom prst="rect">
            <a:avLst/>
          </a:prstGeom>
          <a:solidFill>
            <a:srgbClr val="908A7C"/>
          </a:solidFill>
          <a:ln/>
        </p:spPr>
      </p:sp>
      <p:sp>
        <p:nvSpPr>
          <p:cNvPr id="62" name="Text 60"/>
          <p:cNvSpPr/>
          <p:nvPr/>
        </p:nvSpPr>
        <p:spPr>
          <a:xfrm>
            <a:off x="13399989" y="6085298"/>
            <a:ext cx="1862038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575" dirty="0"/>
          </a:p>
        </p:txBody>
      </p:sp>
      <p:sp>
        <p:nvSpPr>
          <p:cNvPr id="63" name="Shape 61"/>
          <p:cNvSpPr/>
          <p:nvPr/>
        </p:nvSpPr>
        <p:spPr>
          <a:xfrm>
            <a:off x="15433478" y="6017565"/>
            <a:ext cx="1806774" cy="10583"/>
          </a:xfrm>
          <a:prstGeom prst="rect">
            <a:avLst/>
          </a:prstGeom>
          <a:solidFill>
            <a:srgbClr val="908A7C"/>
          </a:solidFill>
          <a:ln/>
        </p:spPr>
      </p:sp>
      <p:sp>
        <p:nvSpPr>
          <p:cNvPr id="64" name="Text 62"/>
          <p:cNvSpPr/>
          <p:nvPr/>
        </p:nvSpPr>
        <p:spPr>
          <a:xfrm>
            <a:off x="15528728" y="6085298"/>
            <a:ext cx="1540074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1575" dirty="0"/>
          </a:p>
        </p:txBody>
      </p:sp>
      <p:sp>
        <p:nvSpPr>
          <p:cNvPr id="65" name="Text 63"/>
          <p:cNvSpPr/>
          <p:nvPr/>
        </p:nvSpPr>
        <p:spPr>
          <a:xfrm>
            <a:off x="6789341" y="6474236"/>
            <a:ext cx="42928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Extended set</a:t>
            </a:r>
            <a:endParaRPr lang="en-US" sz="1575" dirty="0"/>
          </a:p>
        </p:txBody>
      </p:sp>
      <p:sp>
        <p:nvSpPr>
          <p:cNvPr id="66" name="Text 64"/>
          <p:cNvSpPr/>
          <p:nvPr/>
        </p:nvSpPr>
        <p:spPr>
          <a:xfrm>
            <a:off x="11213869" y="6474236"/>
            <a:ext cx="191942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75" dirty="0"/>
          </a:p>
        </p:txBody>
      </p:sp>
      <p:sp>
        <p:nvSpPr>
          <p:cNvPr id="67" name="Text 65"/>
          <p:cNvSpPr/>
          <p:nvPr/>
        </p:nvSpPr>
        <p:spPr>
          <a:xfrm>
            <a:off x="13399989" y="6474236"/>
            <a:ext cx="1862038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75" dirty="0"/>
          </a:p>
        </p:txBody>
      </p:sp>
      <p:sp>
        <p:nvSpPr>
          <p:cNvPr id="68" name="Text 66"/>
          <p:cNvSpPr/>
          <p:nvPr/>
        </p:nvSpPr>
        <p:spPr>
          <a:xfrm>
            <a:off x="15528728" y="6474236"/>
            <a:ext cx="1540074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575" dirty="0"/>
          </a:p>
        </p:txBody>
      </p:sp>
      <p:sp>
        <p:nvSpPr>
          <p:cNvPr id="69" name="Shape 67"/>
          <p:cNvSpPr/>
          <p:nvPr/>
        </p:nvSpPr>
        <p:spPr>
          <a:xfrm>
            <a:off x="6617891" y="7200252"/>
            <a:ext cx="4500728" cy="10583"/>
          </a:xfrm>
          <a:prstGeom prst="rect">
            <a:avLst/>
          </a:prstGeom>
          <a:solidFill>
            <a:srgbClr val="2C2B28"/>
          </a:solidFill>
          <a:ln/>
        </p:spPr>
      </p:sp>
      <p:sp>
        <p:nvSpPr>
          <p:cNvPr id="70" name="Text 68"/>
          <p:cNvSpPr/>
          <p:nvPr/>
        </p:nvSpPr>
        <p:spPr>
          <a:xfrm>
            <a:off x="6789341" y="6868464"/>
            <a:ext cx="4292850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total</a:t>
            </a:r>
            <a:endParaRPr lang="en-US" sz="1575" dirty="0"/>
          </a:p>
        </p:txBody>
      </p:sp>
      <p:sp>
        <p:nvSpPr>
          <p:cNvPr id="71" name="Shape 69"/>
          <p:cNvSpPr/>
          <p:nvPr/>
        </p:nvSpPr>
        <p:spPr>
          <a:xfrm>
            <a:off x="11118619" y="7200252"/>
            <a:ext cx="2186120" cy="10583"/>
          </a:xfrm>
          <a:prstGeom prst="rect">
            <a:avLst/>
          </a:prstGeom>
          <a:solidFill>
            <a:srgbClr val="2C2B28"/>
          </a:solidFill>
          <a:ln/>
        </p:spPr>
      </p:sp>
      <p:sp>
        <p:nvSpPr>
          <p:cNvPr id="72" name="Text 70"/>
          <p:cNvSpPr/>
          <p:nvPr/>
        </p:nvSpPr>
        <p:spPr>
          <a:xfrm>
            <a:off x="11213869" y="6868464"/>
            <a:ext cx="1919420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</a:t>
            </a:r>
            <a:endParaRPr lang="en-US" sz="1575" dirty="0"/>
          </a:p>
        </p:txBody>
      </p:sp>
      <p:sp>
        <p:nvSpPr>
          <p:cNvPr id="73" name="Shape 71"/>
          <p:cNvSpPr/>
          <p:nvPr/>
        </p:nvSpPr>
        <p:spPr>
          <a:xfrm>
            <a:off x="13304739" y="7200252"/>
            <a:ext cx="2128738" cy="10583"/>
          </a:xfrm>
          <a:prstGeom prst="rect">
            <a:avLst/>
          </a:prstGeom>
          <a:solidFill>
            <a:srgbClr val="2C2B28"/>
          </a:solidFill>
          <a:ln/>
        </p:spPr>
      </p:sp>
      <p:sp>
        <p:nvSpPr>
          <p:cNvPr id="74" name="Text 72"/>
          <p:cNvSpPr/>
          <p:nvPr/>
        </p:nvSpPr>
        <p:spPr>
          <a:xfrm>
            <a:off x="13399989" y="6868464"/>
            <a:ext cx="1862038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</a:t>
            </a:r>
            <a:endParaRPr lang="en-US" sz="1575" dirty="0"/>
          </a:p>
        </p:txBody>
      </p:sp>
      <p:sp>
        <p:nvSpPr>
          <p:cNvPr id="75" name="Shape 73"/>
          <p:cNvSpPr/>
          <p:nvPr/>
        </p:nvSpPr>
        <p:spPr>
          <a:xfrm>
            <a:off x="15433478" y="7200252"/>
            <a:ext cx="1806774" cy="10583"/>
          </a:xfrm>
          <a:prstGeom prst="rect">
            <a:avLst/>
          </a:prstGeom>
          <a:solidFill>
            <a:srgbClr val="2C2B28"/>
          </a:solidFill>
          <a:ln/>
        </p:spPr>
      </p:sp>
      <p:sp>
        <p:nvSpPr>
          <p:cNvPr id="76" name="Text 74"/>
          <p:cNvSpPr/>
          <p:nvPr/>
        </p:nvSpPr>
        <p:spPr>
          <a:xfrm>
            <a:off x="15528728" y="6868464"/>
            <a:ext cx="1540074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440</a:t>
            </a:r>
            <a:endParaRPr lang="en-US" sz="1575" dirty="0"/>
          </a:p>
        </p:txBody>
      </p:sp>
      <p:sp>
        <p:nvSpPr>
          <p:cNvPr id="77" name="Shape 75"/>
          <p:cNvSpPr/>
          <p:nvPr/>
        </p:nvSpPr>
        <p:spPr>
          <a:xfrm>
            <a:off x="1047750" y="746367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78" name="Text 76"/>
          <p:cNvSpPr/>
          <p:nvPr/>
        </p:nvSpPr>
        <p:spPr>
          <a:xfrm>
            <a:off x="1047750" y="7702795"/>
            <a:ext cx="5245515" cy="1425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Native-speaker validated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Bangla.</a:t>
            </a:r>
            <a:endParaRPr lang="en-US" sz="1950" dirty="0"/>
          </a:p>
        </p:txBody>
      </p:sp>
      <p:sp>
        <p:nvSpPr>
          <p:cNvPr id="79" name="Text 77"/>
          <p:cNvSpPr/>
          <p:nvPr/>
        </p:nvSpPr>
        <p:spPr>
          <a:xfrm>
            <a:off x="6597551" y="7702795"/>
            <a:ext cx="5245515" cy="1425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Length-matched subset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50 / language (mean chars EN 6.88, BN 5.20).</a:t>
            </a:r>
            <a:endParaRPr lang="en-US" sz="1950" dirty="0"/>
          </a:p>
        </p:txBody>
      </p:sp>
      <p:sp>
        <p:nvSpPr>
          <p:cNvPr id="80" name="Text 78"/>
          <p:cNvSpPr/>
          <p:nvPr/>
        </p:nvSpPr>
        <p:spPr>
          <a:xfrm>
            <a:off x="12147352" y="7702795"/>
            <a:ext cx="5245685" cy="1425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Clinically grounded: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 items target documented dyslexia error patterns, voiced/unvoiced contrasts, conjuncts and matra (Badsha 2024).</a:t>
            </a:r>
            <a:endParaRPr lang="en-US" sz="1950" dirty="0"/>
          </a:p>
        </p:txBody>
      </p:sp>
      <p:sp>
        <p:nvSpPr>
          <p:cNvPr id="81" name="Shape 79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82" name="Text 80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15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COMPARED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models, four pretraining recipes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3238500" y="2369509"/>
            <a:ext cx="3388982" cy="42333"/>
          </a:xfrm>
          <a:prstGeom prst="rect">
            <a:avLst/>
          </a:prstGeom>
          <a:solidFill>
            <a:srgbClr val="2F6FA6"/>
          </a:solidFill>
          <a:ln/>
        </p:spPr>
      </p:sp>
      <p:sp>
        <p:nvSpPr>
          <p:cNvPr id="5" name="Text 3"/>
          <p:cNvSpPr/>
          <p:nvPr/>
        </p:nvSpPr>
        <p:spPr>
          <a:xfrm>
            <a:off x="3448017" y="2566293"/>
            <a:ext cx="1820796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XLM-R large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627482" y="2369509"/>
            <a:ext cx="3517966" cy="42333"/>
          </a:xfrm>
          <a:prstGeom prst="rect">
            <a:avLst/>
          </a:prstGeom>
          <a:solidFill>
            <a:srgbClr val="C33F3C"/>
          </a:solidFill>
          <a:ln/>
        </p:spPr>
      </p:sp>
      <p:sp>
        <p:nvSpPr>
          <p:cNvPr id="7" name="Text 5"/>
          <p:cNvSpPr/>
          <p:nvPr/>
        </p:nvSpPr>
        <p:spPr>
          <a:xfrm>
            <a:off x="6836999" y="2566293"/>
            <a:ext cx="1903148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3.1 8B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145448" y="2369509"/>
            <a:ext cx="3398573" cy="42333"/>
          </a:xfrm>
          <a:prstGeom prst="rect">
            <a:avLst/>
          </a:prstGeom>
          <a:solidFill>
            <a:srgbClr val="3A9A55"/>
          </a:solidFill>
          <a:ln/>
        </p:spPr>
      </p:sp>
      <p:sp>
        <p:nvSpPr>
          <p:cNvPr id="9" name="Text 7"/>
          <p:cNvSpPr/>
          <p:nvPr/>
        </p:nvSpPr>
        <p:spPr>
          <a:xfrm>
            <a:off x="10354966" y="2566293"/>
            <a:ext cx="1826915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7B1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3544021" y="2369509"/>
            <a:ext cx="3696229" cy="42333"/>
          </a:xfrm>
          <a:prstGeom prst="rect">
            <a:avLst/>
          </a:prstGeom>
          <a:solidFill>
            <a:srgbClr val="8A5CB0"/>
          </a:solidFill>
          <a:ln/>
        </p:spPr>
      </p:sp>
      <p:sp>
        <p:nvSpPr>
          <p:cNvPr id="11" name="Text 9"/>
          <p:cNvSpPr/>
          <p:nvPr/>
        </p:nvSpPr>
        <p:spPr>
          <a:xfrm>
            <a:off x="13753538" y="2566293"/>
            <a:ext cx="1158677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 XL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47750" y="3121918"/>
            <a:ext cx="16192501" cy="613337"/>
          </a:xfrm>
          <a:prstGeom prst="rect">
            <a:avLst/>
          </a:prstGeom>
          <a:solidFill>
            <a:srgbClr val="F1E8D6"/>
          </a:solidFill>
          <a:ln/>
        </p:spPr>
      </p:sp>
      <p:sp>
        <p:nvSpPr>
          <p:cNvPr id="13" name="Text 11"/>
          <p:cNvSpPr/>
          <p:nvPr/>
        </p:nvSpPr>
        <p:spPr>
          <a:xfrm>
            <a:off x="1257300" y="3255268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448050" y="3255268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Encoder-only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837032" y="3255268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Decoder-only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354998" y="3255268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Decoder-only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753571" y="3255268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57300" y="3868605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Tokenizer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3448050" y="3868605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SentencePiece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837032" y="3868605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BPE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354998" y="3868605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BPE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3753571" y="3868605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SentencePiece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47750" y="4348593"/>
            <a:ext cx="16192501" cy="613337"/>
          </a:xfrm>
          <a:prstGeom prst="rect">
            <a:avLst/>
          </a:prstGeom>
          <a:solidFill>
            <a:srgbClr val="F1E8D6"/>
          </a:solidFill>
          <a:ln/>
        </p:spPr>
      </p:sp>
      <p:sp>
        <p:nvSpPr>
          <p:cNvPr id="24" name="Text 22"/>
          <p:cNvSpPr/>
          <p:nvPr/>
        </p:nvSpPr>
        <p:spPr>
          <a:xfrm>
            <a:off x="1257300" y="4481943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3448050" y="4481943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6837032" y="4481943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English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0354998" y="4481943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3753571" y="4481943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257300" y="5095280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3448050" y="5095280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6837032" y="5095280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354998" y="5095280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3753571" y="5095280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(encoder)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047750" y="5575267"/>
            <a:ext cx="16192501" cy="613337"/>
          </a:xfrm>
          <a:prstGeom prst="rect">
            <a:avLst/>
          </a:prstGeom>
          <a:solidFill>
            <a:srgbClr val="F1E8D6"/>
          </a:solidFill>
          <a:ln/>
        </p:spPr>
      </p:sp>
      <p:sp>
        <p:nvSpPr>
          <p:cNvPr id="35" name="Text 33"/>
          <p:cNvSpPr/>
          <p:nvPr/>
        </p:nvSpPr>
        <p:spPr>
          <a:xfrm>
            <a:off x="1257300" y="5708617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size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3448050" y="5708617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6837032" y="5708617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4096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0354998" y="5708617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4096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3753571" y="5708617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2048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257300" y="6321954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3448050" y="6321954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0.56B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6837032" y="6321954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8B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10354998" y="6321954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7.1B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3753571" y="6321954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3.7B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(1.67B enc.)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047750" y="7144742"/>
            <a:ext cx="114892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2253754" y="7144742"/>
            <a:ext cx="14052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2451365" y="7144742"/>
            <a:ext cx="10402802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GPU-hours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one 24 GB consumer GPU; the 7-8B decoders run 4-bit quantized.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9" name="Text 47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15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frozen-model probing pipeline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062593"/>
            <a:ext cx="16678276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fine-tuning, no weight updates. Every model stays frozen.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47750" y="2714129"/>
            <a:ext cx="16192501" cy="5495065"/>
          </a:xfrm>
          <a:prstGeom prst="roundRect">
            <a:avLst>
              <a:gd name="adj" fmla="val 1387"/>
            </a:avLst>
          </a:prstGeom>
          <a:solidFill>
            <a:srgbClr val="F3ECDB"/>
          </a:solidFill>
          <a:ln w="10583">
            <a:solidFill>
              <a:srgbClr val="D8CCB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248918" y="7301192"/>
            <a:ext cx="15790165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Pipeline: frozen LLM → per-layer hidden states → linear probe → sanity checks → transfer → RSA → ablation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47750" y="8457281"/>
            <a:ext cx="16192501" cy="763488"/>
          </a:xfrm>
          <a:prstGeom prst="roundRect">
            <a:avLst>
              <a:gd name="adj" fmla="val 4990"/>
            </a:avLst>
          </a:prstGeom>
          <a:solidFill>
            <a:srgbClr val="F1E8D6"/>
          </a:solidFill>
          <a:ln/>
        </p:spPr>
      </p:sp>
      <p:sp>
        <p:nvSpPr>
          <p:cNvPr id="10" name="Shape 8"/>
          <p:cNvSpPr/>
          <p:nvPr/>
        </p:nvSpPr>
        <p:spPr>
          <a:xfrm>
            <a:off x="1047750" y="8457281"/>
            <a:ext cx="52917" cy="763488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11" name="Text 9"/>
          <p:cNvSpPr/>
          <p:nvPr/>
        </p:nvSpPr>
        <p:spPr>
          <a:xfrm>
            <a:off x="1386417" y="8679035"/>
            <a:ext cx="858209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377943" y="8628598"/>
            <a:ext cx="1568979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1876" y="8696332"/>
            <a:ext cx="1357313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LLM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61189" y="8684161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4423007" y="8628598"/>
            <a:ext cx="2800945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6940" y="8696332"/>
            <a:ext cx="2597107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hidden states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38219" y="8684161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7700037" y="8628598"/>
            <a:ext cx="1671009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43970" y="8696332"/>
            <a:ext cx="1459343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probe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85313" y="8684161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847130" y="8628598"/>
            <a:ext cx="1811073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91064" y="8696332"/>
            <a:ext cx="1599406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Sanity checks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772471" y="8684161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2134288" y="8628598"/>
            <a:ext cx="1188971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278222" y="8696332"/>
            <a:ext cx="977305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437526" y="8684161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3799345" y="8628598"/>
            <a:ext cx="769938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943278" y="8696332"/>
            <a:ext cx="558271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683549" y="8684161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5045367" y="8628598"/>
            <a:ext cx="1201208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189300" y="8696332"/>
            <a:ext cx="989542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3" name="Text 31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15</a:t>
            </a:r>
            <a:endParaRPr lang="en-US" sz="1800" dirty="0"/>
          </a:p>
        </p:txBody>
      </p:sp>
      <p:pic>
        <p:nvPicPr>
          <p:cNvPr id="35" name="Picture 34" descr="fi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707" y="2915297"/>
            <a:ext cx="7634586" cy="42944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8102" y="876267"/>
            <a:ext cx="64191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451530" y="897434"/>
            <a:ext cx="2653501" cy="302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SANITY CHECKS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"phonological" tasks fail surface controls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291126"/>
            <a:ext cx="6114356" cy="1032537"/>
          </a:xfrm>
          <a:prstGeom prst="roundRect">
            <a:avLst>
              <a:gd name="adj" fmla="val 5535"/>
            </a:avLst>
          </a:prstGeom>
          <a:solidFill>
            <a:srgbClr val="F1E8D6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7850" y="2473028"/>
            <a:ext cx="331688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5639" y="2473028"/>
            <a:ext cx="5424357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Voicing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recoverable from the first character alone </a:t>
            </a:r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(100%)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47750" y="3475964"/>
            <a:ext cx="6114356" cy="1032537"/>
          </a:xfrm>
          <a:prstGeom prst="roundRect">
            <a:avLst>
              <a:gd name="adj" fmla="val 5535"/>
            </a:avLst>
          </a:prstGeom>
          <a:solidFill>
            <a:srgbClr val="F1E8D6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7850" y="3657865"/>
            <a:ext cx="331688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75639" y="3657865"/>
            <a:ext cx="5424357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Orthographic transparency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solved by character length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047750" y="4660801"/>
            <a:ext cx="6114356" cy="698169"/>
          </a:xfrm>
          <a:prstGeom prst="roundRect">
            <a:avLst>
              <a:gd name="adj" fmla="val 8186"/>
            </a:avLst>
          </a:prstGeom>
          <a:solidFill>
            <a:srgbClr val="F1E8D6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7850" y="4842702"/>
            <a:ext cx="331688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75639" y="4842702"/>
            <a:ext cx="4167014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Syllable count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length-confounded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47750" y="5511271"/>
            <a:ext cx="6114356" cy="1032537"/>
          </a:xfrm>
          <a:prstGeom prst="roundRect">
            <a:avLst>
              <a:gd name="adj" fmla="val 5535"/>
            </a:avLst>
          </a:prstGeom>
          <a:solidFill>
            <a:srgbClr val="F1E8D6"/>
          </a:solidFill>
          <a:ln w="10583">
            <a:solidFill>
              <a:srgbClr val="3A9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7850" y="5693172"/>
            <a:ext cx="331688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75639" y="5693172"/>
            <a:ext cx="5424357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Length-matched real-vs-pseudo word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survives the controls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7676390" y="2291126"/>
            <a:ext cx="9563861" cy="6266656"/>
          </a:xfrm>
          <a:prstGeom prst="roundRect">
            <a:avLst>
              <a:gd name="adj" fmla="val 1216"/>
            </a:avLst>
          </a:prstGeom>
          <a:solidFill>
            <a:srgbClr val="F3ECDB"/>
          </a:solidFill>
          <a:ln w="10583">
            <a:solidFill>
              <a:srgbClr val="D8CCB4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7877558" y="7649780"/>
            <a:ext cx="9161525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Surface-confound sanity checks and length-matched recovery (panels A + B)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47750" y="8558110"/>
            <a:ext cx="16192501" cy="662451"/>
          </a:xfrm>
          <a:prstGeom prst="roundRect">
            <a:avLst>
              <a:gd name="adj" fmla="val 5751"/>
            </a:avLst>
          </a:prstGeom>
          <a:solidFill>
            <a:srgbClr val="F1E8D6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7750" y="8558110"/>
            <a:ext cx="52917" cy="662451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23" name="Text 21"/>
          <p:cNvSpPr/>
          <p:nvPr/>
        </p:nvSpPr>
        <p:spPr>
          <a:xfrm>
            <a:off x="1386417" y="8729428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071647" y="8734555"/>
            <a:ext cx="1082589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4 "phonological" tasks fail surface controls; only length-matched real-word survives.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6" name="Text 24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15</a:t>
            </a:r>
            <a:endParaRPr lang="en-US" sz="1800" dirty="0"/>
          </a:p>
        </p:txBody>
      </p:sp>
      <p:pic>
        <p:nvPicPr>
          <p:cNvPr id="28" name="Picture 27" descr="plots_summary_1_sanity_realw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9596" y="2492294"/>
            <a:ext cx="5797449" cy="50660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8102" y="876267"/>
            <a:ext cx="64191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451530" y="897434"/>
            <a:ext cx="4335125" cy="302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CROSS-LINGUAL TRANSFER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transfer splits the field in two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2253093"/>
            <a:ext cx="742823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Length-matched Bangla F1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(gain over surface)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2752163"/>
            <a:ext cx="121920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362068" y="2782590"/>
            <a:ext cx="4297495" cy="285750"/>
          </a:xfrm>
          <a:prstGeom prst="roundRect">
            <a:avLst>
              <a:gd name="adj" fmla="val 16667"/>
            </a:avLst>
          </a:prstGeom>
          <a:solidFill>
            <a:srgbClr val="ECE3D2"/>
          </a:solidFill>
          <a:ln/>
        </p:spPr>
      </p:sp>
      <p:sp>
        <p:nvSpPr>
          <p:cNvPr id="8" name="Shape 6"/>
          <p:cNvSpPr/>
          <p:nvPr/>
        </p:nvSpPr>
        <p:spPr>
          <a:xfrm>
            <a:off x="2362068" y="2782590"/>
            <a:ext cx="3953537" cy="285750"/>
          </a:xfrm>
          <a:prstGeom prst="roundRect">
            <a:avLst>
              <a:gd name="adj" fmla="val 16667"/>
            </a:avLst>
          </a:prstGeom>
          <a:solidFill>
            <a:srgbClr val="3A9A55"/>
          </a:solidFill>
          <a:ln/>
        </p:spPr>
      </p:sp>
      <p:sp>
        <p:nvSpPr>
          <p:cNvPr id="9" name="Text 7"/>
          <p:cNvSpPr/>
          <p:nvPr/>
        </p:nvSpPr>
        <p:spPr>
          <a:xfrm>
            <a:off x="6754681" y="2752163"/>
            <a:ext cx="150495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 </a:t>
            </a:r>
            <a:pPr algn="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+0.30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47750" y="3232216"/>
            <a:ext cx="121920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XLM-R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2362068" y="3262643"/>
            <a:ext cx="4297495" cy="285750"/>
          </a:xfrm>
          <a:prstGeom prst="roundRect">
            <a:avLst>
              <a:gd name="adj" fmla="val 16667"/>
            </a:avLst>
          </a:prstGeom>
          <a:solidFill>
            <a:srgbClr val="ECE3D2"/>
          </a:solidFill>
          <a:ln/>
        </p:spPr>
      </p:sp>
      <p:sp>
        <p:nvSpPr>
          <p:cNvPr id="12" name="Shape 10"/>
          <p:cNvSpPr/>
          <p:nvPr/>
        </p:nvSpPr>
        <p:spPr>
          <a:xfrm>
            <a:off x="2362068" y="3262643"/>
            <a:ext cx="3695733" cy="285750"/>
          </a:xfrm>
          <a:prstGeom prst="roundRect">
            <a:avLst>
              <a:gd name="adj" fmla="val 16667"/>
            </a:avLst>
          </a:prstGeom>
          <a:solidFill>
            <a:srgbClr val="2F6FA6"/>
          </a:solidFill>
          <a:ln/>
        </p:spPr>
      </p:sp>
      <p:sp>
        <p:nvSpPr>
          <p:cNvPr id="13" name="Text 11"/>
          <p:cNvSpPr/>
          <p:nvPr/>
        </p:nvSpPr>
        <p:spPr>
          <a:xfrm>
            <a:off x="6754681" y="3232216"/>
            <a:ext cx="150495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 </a:t>
            </a:r>
            <a:pPr algn="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47750" y="3712270"/>
            <a:ext cx="121920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2362068" y="3742697"/>
            <a:ext cx="4297495" cy="285750"/>
          </a:xfrm>
          <a:prstGeom prst="roundRect">
            <a:avLst>
              <a:gd name="adj" fmla="val 16667"/>
            </a:avLst>
          </a:prstGeom>
          <a:solidFill>
            <a:srgbClr val="ECE3D2"/>
          </a:solidFill>
          <a:ln/>
        </p:spPr>
      </p:sp>
      <p:sp>
        <p:nvSpPr>
          <p:cNvPr id="16" name="Shape 14"/>
          <p:cNvSpPr/>
          <p:nvPr/>
        </p:nvSpPr>
        <p:spPr>
          <a:xfrm>
            <a:off x="2362068" y="3742697"/>
            <a:ext cx="2707349" cy="285750"/>
          </a:xfrm>
          <a:prstGeom prst="roundRect">
            <a:avLst>
              <a:gd name="adj" fmla="val 16667"/>
            </a:avLst>
          </a:prstGeom>
          <a:solidFill>
            <a:srgbClr val="C33F3C"/>
          </a:solidFill>
          <a:ln/>
        </p:spPr>
      </p:sp>
      <p:sp>
        <p:nvSpPr>
          <p:cNvPr id="17" name="Text 15"/>
          <p:cNvSpPr/>
          <p:nvPr/>
        </p:nvSpPr>
        <p:spPr>
          <a:xfrm>
            <a:off x="6754681" y="3712270"/>
            <a:ext cx="150495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0.63 </a:t>
            </a:r>
            <a:pPr algn="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+0.01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47750" y="4192323"/>
            <a:ext cx="121920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2362068" y="4222750"/>
            <a:ext cx="4297495" cy="285750"/>
          </a:xfrm>
          <a:prstGeom prst="roundRect">
            <a:avLst>
              <a:gd name="adj" fmla="val 16667"/>
            </a:avLst>
          </a:prstGeom>
          <a:solidFill>
            <a:srgbClr val="ECE3D2"/>
          </a:solidFill>
          <a:ln/>
        </p:spPr>
      </p:sp>
      <p:sp>
        <p:nvSpPr>
          <p:cNvPr id="20" name="Shape 18"/>
          <p:cNvSpPr/>
          <p:nvPr/>
        </p:nvSpPr>
        <p:spPr>
          <a:xfrm>
            <a:off x="2362068" y="4222750"/>
            <a:ext cx="2578365" cy="285750"/>
          </a:xfrm>
          <a:prstGeom prst="roundRect">
            <a:avLst>
              <a:gd name="adj" fmla="val 16667"/>
            </a:avLst>
          </a:prstGeom>
          <a:solidFill>
            <a:srgbClr val="8A5CB0"/>
          </a:solidFill>
          <a:ln/>
        </p:spPr>
      </p:sp>
      <p:sp>
        <p:nvSpPr>
          <p:cNvPr id="21" name="Text 19"/>
          <p:cNvSpPr/>
          <p:nvPr/>
        </p:nvSpPr>
        <p:spPr>
          <a:xfrm>
            <a:off x="6754681" y="4192323"/>
            <a:ext cx="150495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 </a:t>
            </a:r>
            <a:pPr algn="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-0.02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047750" y="4805660"/>
            <a:ext cx="721188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" y="4968644"/>
            <a:ext cx="7428237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 independently confirms this split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probing needed)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8773914" y="2253093"/>
            <a:ext cx="8466336" cy="6304690"/>
          </a:xfrm>
          <a:prstGeom prst="roundRect">
            <a:avLst>
              <a:gd name="adj" fmla="val 1209"/>
            </a:avLst>
          </a:prstGeom>
          <a:solidFill>
            <a:srgbClr val="F3ECDB"/>
          </a:solidFill>
          <a:ln w="10583">
            <a:solidFill>
              <a:srgbClr val="D8CCB4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8975082" y="7649781"/>
            <a:ext cx="8064000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EN → BN transfer and causal-ablation specificity (panels C + D)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047750" y="8558101"/>
            <a:ext cx="16192501" cy="662451"/>
          </a:xfrm>
          <a:prstGeom prst="roundRect">
            <a:avLst>
              <a:gd name="adj" fmla="val 5751"/>
            </a:avLst>
          </a:prstGeom>
          <a:solidFill>
            <a:srgbClr val="F1E8D6"/>
          </a:solidFill>
          <a:ln/>
        </p:spPr>
      </p:sp>
      <p:sp>
        <p:nvSpPr>
          <p:cNvPr id="29" name="Shape 27"/>
          <p:cNvSpPr/>
          <p:nvPr/>
        </p:nvSpPr>
        <p:spPr>
          <a:xfrm>
            <a:off x="1047750" y="8558101"/>
            <a:ext cx="52917" cy="662451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30" name="Text 28"/>
          <p:cNvSpPr/>
          <p:nvPr/>
        </p:nvSpPr>
        <p:spPr>
          <a:xfrm>
            <a:off x="1386417" y="8729419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071647" y="8734545"/>
            <a:ext cx="831767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+ XLM-R survive; Llama + mT5 collapse. Only mT5 localizes.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3" name="Text 31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1800" dirty="0"/>
          </a:p>
        </p:txBody>
      </p:sp>
      <p:pic>
        <p:nvPicPr>
          <p:cNvPr id="35" name="Picture 34" descr="plots_summary_2_transfer_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082" y="2921730"/>
            <a:ext cx="8064000" cy="41691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8102" y="876267"/>
            <a:ext cx="64191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451530" y="897434"/>
            <a:ext cx="3504107" cy="302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LOCALIZATION IN MT5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mT5 localizes the cross-lingual signal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2253093"/>
            <a:ext cx="66208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specificity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(top-20 drop minus random-10 drop)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047750" y="2771180"/>
            <a:ext cx="1627188" cy="1216918"/>
          </a:xfrm>
          <a:prstGeom prst="roundRect">
            <a:avLst>
              <a:gd name="adj" fmla="val 6262"/>
            </a:avLst>
          </a:prstGeom>
          <a:ln w="10583">
            <a:solidFill>
              <a:srgbClr val="8A5C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7784" y="2953081"/>
            <a:ext cx="1187119" cy="495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spc="-72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267784" y="3486382"/>
            <a:ext cx="1187119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08222" y="2771180"/>
            <a:ext cx="1601887" cy="1216918"/>
          </a:xfrm>
          <a:prstGeom prst="roundRect">
            <a:avLst>
              <a:gd name="adj" fmla="val 6262"/>
            </a:avLst>
          </a:prstGeom>
          <a:ln w="10583">
            <a:solidFill>
              <a:srgbClr val="8A5C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28256" y="2953081"/>
            <a:ext cx="1161819" cy="495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spc="-72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028256" y="3486382"/>
            <a:ext cx="1161819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47750" y="4159416"/>
            <a:ext cx="6620894" cy="791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persistent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 units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8A5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u782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8A5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u1880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 across encoder depth.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47750" y="5084465"/>
            <a:ext cx="6428052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5228332"/>
            <a:ext cx="66208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Others stay near chance: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47750" y="5632153"/>
            <a:ext cx="66208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XLM-R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+0.004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-0.022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990086" y="2253093"/>
            <a:ext cx="9250164" cy="6304690"/>
          </a:xfrm>
          <a:prstGeom prst="roundRect">
            <a:avLst>
              <a:gd name="adj" fmla="val 1209"/>
            </a:avLst>
          </a:prstGeom>
          <a:solidFill>
            <a:srgbClr val="F3ECDB"/>
          </a:solidFill>
          <a:ln w="10583">
            <a:solidFill>
              <a:srgbClr val="D8CCB4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8191254" y="7649781"/>
            <a:ext cx="8847828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 localization across depth + two persistent backbone units u782, u1880 (panels E + F)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47750" y="8558397"/>
            <a:ext cx="16192501" cy="662451"/>
          </a:xfrm>
          <a:prstGeom prst="roundRect">
            <a:avLst>
              <a:gd name="adj" fmla="val 5751"/>
            </a:avLst>
          </a:prstGeom>
          <a:solidFill>
            <a:srgbClr val="F1E8D6"/>
          </a:solidFill>
          <a:ln/>
        </p:spPr>
      </p:sp>
      <p:sp>
        <p:nvSpPr>
          <p:cNvPr id="21" name="Shape 19"/>
          <p:cNvSpPr/>
          <p:nvPr/>
        </p:nvSpPr>
        <p:spPr>
          <a:xfrm>
            <a:off x="1047750" y="8558397"/>
            <a:ext cx="52917" cy="662451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22" name="Text 20"/>
          <p:cNvSpPr/>
          <p:nvPr/>
        </p:nvSpPr>
        <p:spPr>
          <a:xfrm>
            <a:off x="1386417" y="8729715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071647" y="8734841"/>
            <a:ext cx="978196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hybrid mechanism: 2 persistent backbone units plus layer-specialized circuits.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5" name="Text 23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462707" y="9681435"/>
            <a:ext cx="8537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1800" dirty="0"/>
          </a:p>
        </p:txBody>
      </p:sp>
      <p:pic>
        <p:nvPicPr>
          <p:cNvPr id="27" name="Picture 26" descr="plots_summary_3_mt5_local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254" y="3258203"/>
            <a:ext cx="8847828" cy="34961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8102" y="876267"/>
            <a:ext cx="64191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451530" y="897434"/>
            <a:ext cx="3051893" cy="302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RECOMMENDATION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47750" y="1424451"/>
            <a:ext cx="16192501" cy="1434538"/>
          </a:xfrm>
          <a:prstGeom prst="roundRect">
            <a:avLst>
              <a:gd name="adj" fmla="val 5312"/>
            </a:avLst>
          </a:prstGeom>
          <a:solidFill>
            <a:srgbClr val="3B4F73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1710201"/>
            <a:ext cx="1589341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28750" y="2125266"/>
            <a:ext cx="15893416" cy="486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150" b="1" spc="-6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Pretraining recipe beats scale: </a:t>
            </a:r>
            <a:pPr algn="l" indent="0" marL="0">
              <a:lnSpc>
                <a:spcPct val="112000"/>
              </a:lnSpc>
              <a:buNone/>
            </a:pPr>
            <a:r>
              <a:rPr lang="en-US" sz="3150" b="1" spc="-63" kern="0" dirty="0">
                <a:solidFill>
                  <a:srgbClr val="7FD1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0.56B XLM-R </a:t>
            </a:r>
            <a:pPr algn="l" indent="0" marL="0">
              <a:lnSpc>
                <a:spcPct val="112000"/>
              </a:lnSpc>
              <a:buNone/>
            </a:pPr>
            <a:r>
              <a:rPr lang="en-US" sz="3150" b="1" spc="-6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beats </a:t>
            </a:r>
            <a:pPr algn="l" indent="0" marL="0">
              <a:lnSpc>
                <a:spcPct val="112000"/>
              </a:lnSpc>
              <a:buNone/>
            </a:pPr>
            <a:r>
              <a:rPr lang="en-US" sz="3150" b="1" spc="-63" kern="0" dirty="0">
                <a:solidFill>
                  <a:srgbClr val="F0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8B Llama </a:t>
            </a:r>
            <a:pPr algn="l" indent="0" marL="0">
              <a:lnSpc>
                <a:spcPct val="112000"/>
              </a:lnSpc>
              <a:buNone/>
            </a:pPr>
            <a:r>
              <a:rPr lang="en-US" sz="3150" b="1" spc="-6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cross-lingually.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047750" y="9209650"/>
            <a:ext cx="3876642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3182772"/>
            <a:ext cx="3876642" cy="42333"/>
          </a:xfrm>
          <a:prstGeom prst="rect">
            <a:avLst/>
          </a:prstGeom>
          <a:solidFill>
            <a:srgbClr val="3A9A55"/>
          </a:solidFill>
          <a:ln/>
        </p:spPr>
      </p:sp>
      <p:sp>
        <p:nvSpPr>
          <p:cNvPr id="9" name="Shape 7"/>
          <p:cNvSpPr/>
          <p:nvPr/>
        </p:nvSpPr>
        <p:spPr>
          <a:xfrm>
            <a:off x="1047750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0" name="Shape 8"/>
          <p:cNvSpPr/>
          <p:nvPr/>
        </p:nvSpPr>
        <p:spPr>
          <a:xfrm>
            <a:off x="4913809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1" name="Shape 9"/>
          <p:cNvSpPr/>
          <p:nvPr/>
        </p:nvSpPr>
        <p:spPr>
          <a:xfrm>
            <a:off x="1286867" y="5458189"/>
            <a:ext cx="171318" cy="171318"/>
          </a:xfrm>
          <a:prstGeom prst="ellipse">
            <a:avLst/>
          </a:prstGeom>
          <a:solidFill>
            <a:srgbClr val="3A9A55"/>
          </a:solidFill>
          <a:ln/>
        </p:spPr>
      </p:sp>
      <p:sp>
        <p:nvSpPr>
          <p:cNvPr id="12" name="Text 10"/>
          <p:cNvSpPr/>
          <p:nvPr/>
        </p:nvSpPr>
        <p:spPr>
          <a:xfrm>
            <a:off x="1286867" y="5762791"/>
            <a:ext cx="350036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7B1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86867" y="6322715"/>
            <a:ext cx="3500360" cy="691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low-resource Bangla screening prototype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152926" y="9209650"/>
            <a:ext cx="3876808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5" name="Shape 13"/>
          <p:cNvSpPr/>
          <p:nvPr/>
        </p:nvSpPr>
        <p:spPr>
          <a:xfrm>
            <a:off x="5152926" y="3182772"/>
            <a:ext cx="3876808" cy="42333"/>
          </a:xfrm>
          <a:prstGeom prst="rect">
            <a:avLst/>
          </a:prstGeom>
          <a:solidFill>
            <a:srgbClr val="8A5CB0"/>
          </a:solidFill>
          <a:ln/>
        </p:spPr>
      </p:sp>
      <p:sp>
        <p:nvSpPr>
          <p:cNvPr id="16" name="Shape 14"/>
          <p:cNvSpPr/>
          <p:nvPr/>
        </p:nvSpPr>
        <p:spPr>
          <a:xfrm>
            <a:off x="5152926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7" name="Shape 15"/>
          <p:cNvSpPr/>
          <p:nvPr/>
        </p:nvSpPr>
        <p:spPr>
          <a:xfrm>
            <a:off x="9019150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8" name="Shape 16"/>
          <p:cNvSpPr/>
          <p:nvPr/>
        </p:nvSpPr>
        <p:spPr>
          <a:xfrm>
            <a:off x="5392043" y="5458189"/>
            <a:ext cx="171318" cy="171318"/>
          </a:xfrm>
          <a:prstGeom prst="ellipse">
            <a:avLst/>
          </a:prstGeom>
          <a:solidFill>
            <a:srgbClr val="8A5CB0"/>
          </a:solidFill>
          <a:ln/>
        </p:spPr>
      </p:sp>
      <p:sp>
        <p:nvSpPr>
          <p:cNvPr id="19" name="Text 17"/>
          <p:cNvSpPr/>
          <p:nvPr/>
        </p:nvSpPr>
        <p:spPr>
          <a:xfrm>
            <a:off x="5392043" y="5762791"/>
            <a:ext cx="350053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 XL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392043" y="6322715"/>
            <a:ext cx="3500530" cy="691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 &amp; mechanism studies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258267" y="9209650"/>
            <a:ext cx="3876642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2" name="Shape 20"/>
          <p:cNvSpPr/>
          <p:nvPr/>
        </p:nvSpPr>
        <p:spPr>
          <a:xfrm>
            <a:off x="9258267" y="3182772"/>
            <a:ext cx="3876642" cy="42333"/>
          </a:xfrm>
          <a:prstGeom prst="rect">
            <a:avLst/>
          </a:prstGeom>
          <a:solidFill>
            <a:srgbClr val="2F6FA6"/>
          </a:solidFill>
          <a:ln/>
        </p:spPr>
      </p:sp>
      <p:sp>
        <p:nvSpPr>
          <p:cNvPr id="23" name="Shape 21"/>
          <p:cNvSpPr/>
          <p:nvPr/>
        </p:nvSpPr>
        <p:spPr>
          <a:xfrm>
            <a:off x="9258267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4" name="Shape 22"/>
          <p:cNvSpPr/>
          <p:nvPr/>
        </p:nvSpPr>
        <p:spPr>
          <a:xfrm>
            <a:off x="13124326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5" name="Shape 23"/>
          <p:cNvSpPr/>
          <p:nvPr/>
        </p:nvSpPr>
        <p:spPr>
          <a:xfrm>
            <a:off x="9497385" y="5294644"/>
            <a:ext cx="171318" cy="171318"/>
          </a:xfrm>
          <a:prstGeom prst="ellipse">
            <a:avLst/>
          </a:prstGeom>
          <a:solidFill>
            <a:srgbClr val="2F6FA6"/>
          </a:solidFill>
          <a:ln/>
        </p:spPr>
      </p:sp>
      <p:sp>
        <p:nvSpPr>
          <p:cNvPr id="26" name="Text 24"/>
          <p:cNvSpPr/>
          <p:nvPr/>
        </p:nvSpPr>
        <p:spPr>
          <a:xfrm>
            <a:off x="9497385" y="5599245"/>
            <a:ext cx="350036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XLM-R large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497385" y="6159169"/>
            <a:ext cx="3500360" cy="1018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Hardware-constrained deployment (0.86 BN F1 at 0.56B)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3363444" y="3182772"/>
            <a:ext cx="3876808" cy="6037461"/>
          </a:xfrm>
          <a:prstGeom prst="roundRect">
            <a:avLst>
              <a:gd name="adj" fmla="val 1966"/>
            </a:avLst>
          </a:prstGeom>
          <a:solidFill>
            <a:srgbClr val="F3ECDB">
              <a:alpha val="9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3363444" y="9209650"/>
            <a:ext cx="3876808" cy="10583"/>
          </a:xfrm>
          <a:prstGeom prst="rect">
            <a:avLst/>
          </a:prstGeom>
          <a:solidFill>
            <a:srgbClr val="E6DCC8">
              <a:alpha val="9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363444" y="3182772"/>
            <a:ext cx="3876808" cy="42333"/>
          </a:xfrm>
          <a:prstGeom prst="rect">
            <a:avLst/>
          </a:prstGeom>
          <a:solidFill>
            <a:srgbClr val="C33F3C">
              <a:alpha val="9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3363444" y="3182772"/>
            <a:ext cx="10583" cy="6037461"/>
          </a:xfrm>
          <a:prstGeom prst="rect">
            <a:avLst/>
          </a:prstGeom>
          <a:solidFill>
            <a:srgbClr val="E6DCC8">
              <a:alpha val="9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229668" y="3182772"/>
            <a:ext cx="10583" cy="6037461"/>
          </a:xfrm>
          <a:prstGeom prst="rect">
            <a:avLst/>
          </a:prstGeom>
          <a:solidFill>
            <a:srgbClr val="E6DCC8">
              <a:alpha val="9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3602560" y="5458189"/>
            <a:ext cx="171318" cy="171318"/>
          </a:xfrm>
          <a:prstGeom prst="ellipse">
            <a:avLst/>
          </a:prstGeom>
          <a:solidFill>
            <a:srgbClr val="C33F3C"/>
          </a:solidFill>
          <a:ln/>
        </p:spPr>
      </p:sp>
      <p:sp>
        <p:nvSpPr>
          <p:cNvPr id="34" name="Text 32"/>
          <p:cNvSpPr/>
          <p:nvPr/>
        </p:nvSpPr>
        <p:spPr>
          <a:xfrm>
            <a:off x="13602560" y="5762791"/>
            <a:ext cx="350053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3.1 8B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3602560" y="6322715"/>
            <a:ext cx="3500530" cy="691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recommended cross-lingually at the lexical level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7" name="Text 35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directions, honest evaluation first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253093"/>
            <a:ext cx="5257767" cy="2914220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253093"/>
            <a:ext cx="5257767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6" name="Text 4"/>
          <p:cNvSpPr/>
          <p:nvPr/>
        </p:nvSpPr>
        <p:spPr>
          <a:xfrm>
            <a:off x="1295301" y="2513377"/>
            <a:ext cx="490554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301" y="2827569"/>
            <a:ext cx="490554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Native-clinician supervision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301" y="3173677"/>
            <a:ext cx="4905546" cy="803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supervised clinical pipeline (clinician stimulus selection, validation against an existing battery, longitudinal follow-up) before any use on children.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15034" y="2253093"/>
            <a:ext cx="5257767" cy="2914220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10" name="Shape 8"/>
          <p:cNvSpPr/>
          <p:nvPr/>
        </p:nvSpPr>
        <p:spPr>
          <a:xfrm>
            <a:off x="6515034" y="2253093"/>
            <a:ext cx="5257767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11" name="Text 9"/>
          <p:cNvSpPr/>
          <p:nvPr/>
        </p:nvSpPr>
        <p:spPr>
          <a:xfrm>
            <a:off x="6762585" y="2513377"/>
            <a:ext cx="490554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62585" y="2827569"/>
            <a:ext cx="490554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Stimulus expansion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62585" y="3173677"/>
            <a:ext cx="4905546" cy="803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the length-matched real-vs-pseudo set from n = 50 to n &gt;= 500 matched pairs per language, stratified by syllable count and morphology.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982319" y="2253093"/>
            <a:ext cx="5257933" cy="2914220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15" name="Shape 13"/>
          <p:cNvSpPr/>
          <p:nvPr/>
        </p:nvSpPr>
        <p:spPr>
          <a:xfrm>
            <a:off x="11982319" y="2253093"/>
            <a:ext cx="5257933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16" name="Text 14"/>
          <p:cNvSpPr/>
          <p:nvPr/>
        </p:nvSpPr>
        <p:spPr>
          <a:xfrm>
            <a:off x="12229869" y="2513377"/>
            <a:ext cx="490571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229869" y="2827569"/>
            <a:ext cx="490571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 confound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229869" y="3173677"/>
            <a:ext cx="4905716" cy="803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Replicate the depth-scan ablation on ByT5, T5, and a T5-style model without span corruption to isolate what drives localization.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47750" y="5376830"/>
            <a:ext cx="5257767" cy="2914385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7750" y="5376830"/>
            <a:ext cx="5257767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301" y="5637113"/>
            <a:ext cx="490554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95301" y="5951307"/>
            <a:ext cx="490554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Backbone-unit mechanism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95301" y="6297414"/>
            <a:ext cx="4905546" cy="803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 what u782 and u1880 encode: stimulus-conditional firing, joint vs single ablation, sparse-autoencoder projection.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15034" y="5376830"/>
            <a:ext cx="5257767" cy="2914385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25" name="Shape 23"/>
          <p:cNvSpPr/>
          <p:nvPr/>
        </p:nvSpPr>
        <p:spPr>
          <a:xfrm>
            <a:off x="6515034" y="5376830"/>
            <a:ext cx="5257767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26" name="Text 24"/>
          <p:cNvSpPr/>
          <p:nvPr/>
        </p:nvSpPr>
        <p:spPr>
          <a:xfrm>
            <a:off x="6762585" y="5637113"/>
            <a:ext cx="490554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62585" y="5951307"/>
            <a:ext cx="490554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coverage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62585" y="6297414"/>
            <a:ext cx="4905546" cy="548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beyond Bangla to Hindi, Tamil, Urdu, and Swahili to test whether the BLOOM transfer recipe generalizes.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1982319" y="5376830"/>
            <a:ext cx="5257933" cy="2914385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30" name="Shape 28"/>
          <p:cNvSpPr/>
          <p:nvPr/>
        </p:nvSpPr>
        <p:spPr>
          <a:xfrm>
            <a:off x="11982319" y="5376830"/>
            <a:ext cx="5257933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31" name="Text 29"/>
          <p:cNvSpPr/>
          <p:nvPr/>
        </p:nvSpPr>
        <p:spPr>
          <a:xfrm>
            <a:off x="12229869" y="5637113"/>
            <a:ext cx="490571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229869" y="5951307"/>
            <a:ext cx="490571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Clinical-task expansion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229869" y="6297414"/>
            <a:ext cx="4905716" cy="803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surface-controlled probes for rapid automatized naming, non-word repetition, and rhyme detection (the fuller CTOPP-2 battery).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047750" y="8558381"/>
            <a:ext cx="16192501" cy="662451"/>
          </a:xfrm>
          <a:prstGeom prst="roundRect">
            <a:avLst>
              <a:gd name="adj" fmla="val 5751"/>
            </a:avLst>
          </a:prstGeom>
          <a:solidFill>
            <a:srgbClr val="F1E8D6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7750" y="8558381"/>
            <a:ext cx="52917" cy="662451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36" name="Text 34"/>
          <p:cNvSpPr/>
          <p:nvPr/>
        </p:nvSpPr>
        <p:spPr>
          <a:xfrm>
            <a:off x="1386417" y="8729698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071647" y="8734824"/>
            <a:ext cx="1214284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evaluation first: the sanity-check failure of 3 of 4 tasks tells the next study where the floor is.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9" name="Text 37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contributions, honestly bounded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367359"/>
            <a:ext cx="457068" cy="457068"/>
          </a:xfrm>
          <a:prstGeom prst="ellipse">
            <a:avLst/>
          </a:prstGeom>
          <a:solidFill>
            <a:srgbClr val="3B4F73"/>
          </a:solidFill>
          <a:ln/>
        </p:spPr>
      </p:sp>
      <p:sp>
        <p:nvSpPr>
          <p:cNvPr id="5" name="Text 3"/>
          <p:cNvSpPr/>
          <p:nvPr/>
        </p:nvSpPr>
        <p:spPr>
          <a:xfrm>
            <a:off x="1009650" y="2367359"/>
            <a:ext cx="533268" cy="495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14335" y="2367359"/>
            <a:ext cx="9308120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Methodology.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Surface-feature sanity checks (first-character lookup + length-matching) as a required precondition for phonological probing claims.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047750" y="3346649"/>
            <a:ext cx="457068" cy="457068"/>
          </a:xfrm>
          <a:prstGeom prst="ellipse">
            <a:avLst/>
          </a:prstGeom>
          <a:solidFill>
            <a:srgbClr val="3B4F73"/>
          </a:solidFill>
          <a:ln/>
        </p:spPr>
      </p:sp>
      <p:sp>
        <p:nvSpPr>
          <p:cNvPr id="8" name="Text 6"/>
          <p:cNvSpPr/>
          <p:nvPr/>
        </p:nvSpPr>
        <p:spPr>
          <a:xfrm>
            <a:off x="1009650" y="3346649"/>
            <a:ext cx="533268" cy="495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14335" y="3346649"/>
            <a:ext cx="740354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Mechanism.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of mT5's two-unit cross-lingual backbone.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047750" y="4089466"/>
            <a:ext cx="457068" cy="457068"/>
          </a:xfrm>
          <a:prstGeom prst="ellipse">
            <a:avLst/>
          </a:prstGeom>
          <a:solidFill>
            <a:srgbClr val="3B4F73"/>
          </a:solidFill>
          <a:ln/>
        </p:spPr>
      </p:sp>
      <p:sp>
        <p:nvSpPr>
          <p:cNvPr id="11" name="Text 9"/>
          <p:cNvSpPr/>
          <p:nvPr/>
        </p:nvSpPr>
        <p:spPr>
          <a:xfrm>
            <a:off x="1009650" y="4089466"/>
            <a:ext cx="533268" cy="495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14335" y="4089466"/>
            <a:ext cx="773823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Dataset.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original, native-reviewed 440-item bilingual stimulus set.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47750" y="4832284"/>
            <a:ext cx="457068" cy="457068"/>
          </a:xfrm>
          <a:prstGeom prst="ellipse">
            <a:avLst/>
          </a:prstGeom>
          <a:solidFill>
            <a:srgbClr val="3B4F73"/>
          </a:solidFill>
          <a:ln/>
        </p:spPr>
      </p:sp>
      <p:sp>
        <p:nvSpPr>
          <p:cNvPr id="14" name="Text 12"/>
          <p:cNvSpPr/>
          <p:nvPr/>
        </p:nvSpPr>
        <p:spPr>
          <a:xfrm>
            <a:off x="1009650" y="4832284"/>
            <a:ext cx="533268" cy="495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14335" y="4832284"/>
            <a:ext cx="9308120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Comparison.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controlled four-model study across the four canonical pretraining recipes.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18094" y="2367691"/>
            <a:ext cx="5822156" cy="3272400"/>
          </a:xfrm>
          <a:prstGeom prst="roundRect">
            <a:avLst>
              <a:gd name="adj" fmla="val 2329"/>
            </a:avLst>
          </a:prstGeom>
          <a:solidFill>
            <a:srgbClr val="F1E8D6"/>
          </a:solidFill>
          <a:ln/>
        </p:spPr>
      </p:sp>
      <p:sp>
        <p:nvSpPr>
          <p:cNvPr id="17" name="Text 15"/>
          <p:cNvSpPr/>
          <p:nvPr/>
        </p:nvSpPr>
        <p:spPr>
          <a:xfrm>
            <a:off x="11741879" y="2710491"/>
            <a:ext cx="532982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 NOT CLAIM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741879" y="3220807"/>
            <a:ext cx="158717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938662" y="3252556"/>
            <a:ext cx="5094948" cy="660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subsets (n = 50 / lang): point estimates only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741879" y="4085663"/>
            <a:ext cx="158717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938662" y="4117413"/>
            <a:ext cx="3770667" cy="660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encoder-decoder probed: an architectural confound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741879" y="4950520"/>
            <a:ext cx="15871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938662" y="4982270"/>
            <a:ext cx="4516522" cy="313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pre-clinical study, not a diagnostic tool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5" name="Text 23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3306134"/>
            <a:ext cx="188846" cy="188846"/>
          </a:xfrm>
          <a:prstGeom prst="ellipse">
            <a:avLst/>
          </a:prstGeom>
          <a:solidFill>
            <a:srgbClr val="2F6FA6"/>
          </a:solidFill>
          <a:ln/>
        </p:spPr>
      </p:sp>
      <p:sp>
        <p:nvSpPr>
          <p:cNvPr id="3" name="Shape 1"/>
          <p:cNvSpPr/>
          <p:nvPr/>
        </p:nvSpPr>
        <p:spPr>
          <a:xfrm>
            <a:off x="1369880" y="3306134"/>
            <a:ext cx="188846" cy="188846"/>
          </a:xfrm>
          <a:prstGeom prst="ellipse">
            <a:avLst/>
          </a:prstGeom>
          <a:solidFill>
            <a:srgbClr val="C33F3C"/>
          </a:solidFill>
          <a:ln/>
        </p:spPr>
      </p:sp>
      <p:sp>
        <p:nvSpPr>
          <p:cNvPr id="4" name="Shape 2"/>
          <p:cNvSpPr/>
          <p:nvPr/>
        </p:nvSpPr>
        <p:spPr>
          <a:xfrm>
            <a:off x="1692011" y="3306134"/>
            <a:ext cx="188846" cy="188846"/>
          </a:xfrm>
          <a:prstGeom prst="ellipse">
            <a:avLst/>
          </a:prstGeom>
          <a:solidFill>
            <a:srgbClr val="3A9A55"/>
          </a:solidFill>
          <a:ln/>
        </p:spPr>
      </p:sp>
      <p:sp>
        <p:nvSpPr>
          <p:cNvPr id="5" name="Shape 3"/>
          <p:cNvSpPr/>
          <p:nvPr/>
        </p:nvSpPr>
        <p:spPr>
          <a:xfrm>
            <a:off x="2014141" y="3306134"/>
            <a:ext cx="188846" cy="188846"/>
          </a:xfrm>
          <a:prstGeom prst="ellipse">
            <a:avLst/>
          </a:prstGeom>
          <a:solidFill>
            <a:srgbClr val="8A5CB0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3818765"/>
            <a:ext cx="16678276" cy="9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047750" y="4942748"/>
            <a:ext cx="16678276" cy="571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welcome.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47750" y="6047913"/>
            <a:ext cx="5725663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4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6443796"/>
            <a:ext cx="5725663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Cross-lingual lexical probing for dyslexia screening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368646" y="6047913"/>
            <a:ext cx="2725379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4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68646" y="6443796"/>
            <a:ext cx="2725379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Name · email · ID]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2026-06-10T06:37:46Z</dcterms:created>
  <dcterms:modified xsi:type="dcterms:W3CDTF">2026-06-10T06:37:46Z</dcterms:modified>
</cp:coreProperties>
</file>