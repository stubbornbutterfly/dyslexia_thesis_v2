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845138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1845138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1845138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1845138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319734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8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887101"/>
            <a:ext cx="14519911" cy="20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 Cross-Lingual Lexical Representations in Multilingual Large Language Models for Low-Resource Dyslexia Screening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5376194"/>
            <a:ext cx="901941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772077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Ayesha Siddika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24341144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616608" y="5772077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Nazmoon Nahar Aka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22101649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" y="6175897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Mashrafi Rahman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24341197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616608" y="6175897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 Mohammad Sayem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22101116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1717" y="5376194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1717" y="5772077"/>
            <a:ext cx="379945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Farig Yousuf Sadeque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61717" y="6156881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Co-supervisor: Mr. Md. Tanzim Reza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132201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7528084"/>
            <a:ext cx="37657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 University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7931904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CSE · CSE400 · June 2026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0791825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screening gap in low-resource languages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613507"/>
            <a:ext cx="575989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45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270M</a:t>
            </a:r>
            <a:pPr algn="l" indent="0" marL="0">
              <a:lnSpc>
                <a:spcPct val="90000"/>
              </a:lnSpc>
              <a:buNone/>
            </a:pPr>
            <a:r>
              <a:rPr lang="en-US" sz="15000" b="1" spc="-450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047750" y="6575557"/>
            <a:ext cx="510159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 speakers worldwide, with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widely deployed normative dyslexia screener.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497134" y="4248222"/>
            <a:ext cx="4921216" cy="2144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screener per language is expensive. But frozen multilingual LLMs may already carry the cross-lingual lexical structure such a tool needs.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97134" y="6700909"/>
            <a:ext cx="5334000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" name="Text 6"/>
          <p:cNvSpPr/>
          <p:nvPr/>
        </p:nvSpPr>
        <p:spPr>
          <a:xfrm>
            <a:off x="7497134" y="6959142"/>
            <a:ext cx="5494020" cy="756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read that structure out without training a thing?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&amp;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2753976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cross-lingual probing study exists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005336"/>
            <a:ext cx="67546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phonological probing is...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679527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63551" y="3679527"/>
            <a:ext cx="494114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English-centric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masked encoders only.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427384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551" y="4273848"/>
            <a:ext cx="4421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surface features.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486816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3551" y="4868168"/>
            <a:ext cx="586652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four-model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comparison.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367614" y="3005652"/>
            <a:ext cx="8872637" cy="1113234"/>
          </a:xfrm>
          <a:prstGeom prst="roundRect">
            <a:avLst>
              <a:gd name="adj" fmla="val 5134"/>
            </a:avLst>
          </a:prstGeom>
          <a:solidFill>
            <a:srgbClr val="F1E8D6"/>
          </a:solidFill>
          <a:ln/>
        </p:spPr>
      </p:sp>
      <p:sp>
        <p:nvSpPr>
          <p:cNvPr id="12" name="Text 10"/>
          <p:cNvSpPr/>
          <p:nvPr/>
        </p:nvSpPr>
        <p:spPr>
          <a:xfrm>
            <a:off x="8615164" y="3196152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43732" y="3259652"/>
            <a:ext cx="756943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each model encode phonological structure in-language (English)?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367614" y="4271187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615164" y="4461687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43732" y="4525187"/>
            <a:ext cx="7001061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structure transfer zero-shot from English to Bangla?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367614" y="5215915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8" name="Text 16"/>
          <p:cNvSpPr/>
          <p:nvPr/>
        </p:nvSpPr>
        <p:spPr>
          <a:xfrm>
            <a:off x="8615164" y="5406415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43732" y="5469915"/>
            <a:ext cx="5413797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cross-lingual lexical signal live?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367614" y="6160643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21" name="Text 19"/>
          <p:cNvSpPr/>
          <p:nvPr/>
        </p:nvSpPr>
        <p:spPr>
          <a:xfrm>
            <a:off x="8615164" y="6351143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43732" y="6414643"/>
            <a:ext cx="5186923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family is best, and for what use?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strands touch the problem, none covers all six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626"/>
            <a:ext cx="14716126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spans cross-lingual transfer, phonological probing, dyslexia screening, and mechanistic interpretability. We score each strand on the six requirements this study needs to hold together.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042297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1" y="3042297"/>
            <a:ext cx="1261996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Phono. structure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843897" y="3042297"/>
            <a:ext cx="1806707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transfer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688705" y="3042297"/>
            <a:ext cx="1851025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(Bangla)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577829" y="3042297"/>
            <a:ext cx="1158644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controls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3774573" y="3042297"/>
            <a:ext cx="177776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architectures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5590441" y="3042297"/>
            <a:ext cx="163075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Mechanistic account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047750" y="3654642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808100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Cross-lingual transfer in multilingual LLMs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4147924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representations align across languages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24751" y="3654642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6" name="Text 14"/>
          <p:cNvSpPr/>
          <p:nvPr/>
        </p:nvSpPr>
        <p:spPr>
          <a:xfrm>
            <a:off x="7486651" y="3665225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8824847" y="3654642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Text 16"/>
          <p:cNvSpPr/>
          <p:nvPr/>
        </p:nvSpPr>
        <p:spPr>
          <a:xfrm>
            <a:off x="8786747" y="3665225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10669655" y="3654642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31555" y="3665225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12558779" y="3654642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0679" y="3665225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13755523" y="3654642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7423" y="3665225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5" name="Shape 23"/>
          <p:cNvSpPr/>
          <p:nvPr/>
        </p:nvSpPr>
        <p:spPr>
          <a:xfrm>
            <a:off x="15571391" y="3654642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5533291" y="3665225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1047750" y="4528924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4682383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Phonological / sub-lexical probing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" y="5022207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Control-task critique pushed the field toward sanity checks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24751" y="4528924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1" name="Text 29"/>
          <p:cNvSpPr/>
          <p:nvPr/>
        </p:nvSpPr>
        <p:spPr>
          <a:xfrm>
            <a:off x="7486651" y="4539508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2" name="Shape 30"/>
          <p:cNvSpPr/>
          <p:nvPr/>
        </p:nvSpPr>
        <p:spPr>
          <a:xfrm>
            <a:off x="8824847" y="4528924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8786747" y="4539508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4" name="Shape 32"/>
          <p:cNvSpPr/>
          <p:nvPr/>
        </p:nvSpPr>
        <p:spPr>
          <a:xfrm>
            <a:off x="10669655" y="4528924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5" name="Text 33"/>
          <p:cNvSpPr/>
          <p:nvPr/>
        </p:nvSpPr>
        <p:spPr>
          <a:xfrm>
            <a:off x="10631555" y="4539508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6" name="Shape 34"/>
          <p:cNvSpPr/>
          <p:nvPr/>
        </p:nvSpPr>
        <p:spPr>
          <a:xfrm>
            <a:off x="12558779" y="4528924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2520679" y="4539508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8" name="Shape 36"/>
          <p:cNvSpPr/>
          <p:nvPr/>
        </p:nvSpPr>
        <p:spPr>
          <a:xfrm>
            <a:off x="13755523" y="4528924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7423" y="4539508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0" name="Shape 38"/>
          <p:cNvSpPr/>
          <p:nvPr/>
        </p:nvSpPr>
        <p:spPr>
          <a:xfrm>
            <a:off x="15571391" y="4528924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1" name="Text 39"/>
          <p:cNvSpPr/>
          <p:nvPr/>
        </p:nvSpPr>
        <p:spPr>
          <a:xfrm>
            <a:off x="15533291" y="4539508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2" name="Shape 40"/>
          <p:cNvSpPr/>
          <p:nvPr/>
        </p:nvSpPr>
        <p:spPr>
          <a:xfrm>
            <a:off x="1047750" y="5403207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5556665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Automated dyslexia screening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" y="5896489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reading resources and screeners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524751" y="5403207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6" name="Text 44"/>
          <p:cNvSpPr/>
          <p:nvPr/>
        </p:nvSpPr>
        <p:spPr>
          <a:xfrm>
            <a:off x="7486651" y="5413790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7" name="Shape 45"/>
          <p:cNvSpPr/>
          <p:nvPr/>
        </p:nvSpPr>
        <p:spPr>
          <a:xfrm>
            <a:off x="8824847" y="5403207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8" name="Text 46"/>
          <p:cNvSpPr/>
          <p:nvPr/>
        </p:nvSpPr>
        <p:spPr>
          <a:xfrm>
            <a:off x="8786747" y="5413790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9" name="Shape 47"/>
          <p:cNvSpPr/>
          <p:nvPr/>
        </p:nvSpPr>
        <p:spPr>
          <a:xfrm>
            <a:off x="10669655" y="5403207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0" name="Text 48"/>
          <p:cNvSpPr/>
          <p:nvPr/>
        </p:nvSpPr>
        <p:spPr>
          <a:xfrm>
            <a:off x="10631555" y="5413790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51" name="Shape 49"/>
          <p:cNvSpPr/>
          <p:nvPr/>
        </p:nvSpPr>
        <p:spPr>
          <a:xfrm>
            <a:off x="12558779" y="5403207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2" name="Text 50"/>
          <p:cNvSpPr/>
          <p:nvPr/>
        </p:nvSpPr>
        <p:spPr>
          <a:xfrm>
            <a:off x="12520679" y="5413790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3" name="Shape 51"/>
          <p:cNvSpPr/>
          <p:nvPr/>
        </p:nvSpPr>
        <p:spPr>
          <a:xfrm>
            <a:off x="13755523" y="5403207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4" name="Text 52"/>
          <p:cNvSpPr/>
          <p:nvPr/>
        </p:nvSpPr>
        <p:spPr>
          <a:xfrm>
            <a:off x="13717423" y="5413790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5" name="Shape 53"/>
          <p:cNvSpPr/>
          <p:nvPr/>
        </p:nvSpPr>
        <p:spPr>
          <a:xfrm>
            <a:off x="15571391" y="5403207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6" name="Text 54"/>
          <p:cNvSpPr/>
          <p:nvPr/>
        </p:nvSpPr>
        <p:spPr>
          <a:xfrm>
            <a:off x="15533291" y="5413790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7" name="Shape 55"/>
          <p:cNvSpPr/>
          <p:nvPr/>
        </p:nvSpPr>
        <p:spPr>
          <a:xfrm>
            <a:off x="1047750" y="6277490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8" name="Text 56"/>
          <p:cNvSpPr/>
          <p:nvPr/>
        </p:nvSpPr>
        <p:spPr>
          <a:xfrm>
            <a:off x="1047750" y="6430948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Mechanistic interpretability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047750" y="6770772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circuits in multilingual models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7524751" y="6277490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1" name="Text 59"/>
          <p:cNvSpPr/>
          <p:nvPr/>
        </p:nvSpPr>
        <p:spPr>
          <a:xfrm>
            <a:off x="7486651" y="6288073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2" name="Shape 60"/>
          <p:cNvSpPr/>
          <p:nvPr/>
        </p:nvSpPr>
        <p:spPr>
          <a:xfrm>
            <a:off x="8824847" y="6277490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3" name="Text 61"/>
          <p:cNvSpPr/>
          <p:nvPr/>
        </p:nvSpPr>
        <p:spPr>
          <a:xfrm>
            <a:off x="8786747" y="6288073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64" name="Shape 62"/>
          <p:cNvSpPr/>
          <p:nvPr/>
        </p:nvSpPr>
        <p:spPr>
          <a:xfrm>
            <a:off x="10669655" y="6277490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5" name="Text 63"/>
          <p:cNvSpPr/>
          <p:nvPr/>
        </p:nvSpPr>
        <p:spPr>
          <a:xfrm>
            <a:off x="10631555" y="6288073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6" name="Shape 64"/>
          <p:cNvSpPr/>
          <p:nvPr/>
        </p:nvSpPr>
        <p:spPr>
          <a:xfrm>
            <a:off x="12558779" y="6277490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7" name="Text 65"/>
          <p:cNvSpPr/>
          <p:nvPr/>
        </p:nvSpPr>
        <p:spPr>
          <a:xfrm>
            <a:off x="12520679" y="6288073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8" name="Shape 66"/>
          <p:cNvSpPr/>
          <p:nvPr/>
        </p:nvSpPr>
        <p:spPr>
          <a:xfrm>
            <a:off x="13755523" y="6277490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9" name="Text 67"/>
          <p:cNvSpPr/>
          <p:nvPr/>
        </p:nvSpPr>
        <p:spPr>
          <a:xfrm>
            <a:off x="13717423" y="6288073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70" name="Shape 68"/>
          <p:cNvSpPr/>
          <p:nvPr/>
        </p:nvSpPr>
        <p:spPr>
          <a:xfrm>
            <a:off x="15571391" y="6277490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71" name="Text 69"/>
          <p:cNvSpPr/>
          <p:nvPr/>
        </p:nvSpPr>
        <p:spPr>
          <a:xfrm>
            <a:off x="15533291" y="6288073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2" name="Shape 70"/>
          <p:cNvSpPr/>
          <p:nvPr/>
        </p:nvSpPr>
        <p:spPr>
          <a:xfrm>
            <a:off x="1047750" y="7151772"/>
            <a:ext cx="6477001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47750" y="7151772"/>
            <a:ext cx="6477001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4" name="Text 72"/>
          <p:cNvSpPr/>
          <p:nvPr/>
        </p:nvSpPr>
        <p:spPr>
          <a:xfrm>
            <a:off x="1047750" y="7305230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 (this work)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1047750" y="7645054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at the intersection of all six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7524751" y="7151772"/>
            <a:ext cx="1300096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524751" y="7151772"/>
            <a:ext cx="1300096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8" name="Text 76"/>
          <p:cNvSpPr/>
          <p:nvPr/>
        </p:nvSpPr>
        <p:spPr>
          <a:xfrm>
            <a:off x="7486651" y="7162355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9" name="Shape 77"/>
          <p:cNvSpPr/>
          <p:nvPr/>
        </p:nvSpPr>
        <p:spPr>
          <a:xfrm>
            <a:off x="8824847" y="7151772"/>
            <a:ext cx="1844807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824847" y="7151772"/>
            <a:ext cx="1844807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1" name="Text 79"/>
          <p:cNvSpPr/>
          <p:nvPr/>
        </p:nvSpPr>
        <p:spPr>
          <a:xfrm>
            <a:off x="8786747" y="7162355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2" name="Shape 80"/>
          <p:cNvSpPr/>
          <p:nvPr/>
        </p:nvSpPr>
        <p:spPr>
          <a:xfrm>
            <a:off x="10669655" y="7151772"/>
            <a:ext cx="1889125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669655" y="7151772"/>
            <a:ext cx="1889125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4" name="Text 82"/>
          <p:cNvSpPr/>
          <p:nvPr/>
        </p:nvSpPr>
        <p:spPr>
          <a:xfrm>
            <a:off x="10631555" y="7162355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5" name="Shape 83"/>
          <p:cNvSpPr/>
          <p:nvPr/>
        </p:nvSpPr>
        <p:spPr>
          <a:xfrm>
            <a:off x="12558779" y="7151772"/>
            <a:ext cx="1196744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2558779" y="7151772"/>
            <a:ext cx="1196744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7" name="Text 85"/>
          <p:cNvSpPr/>
          <p:nvPr/>
        </p:nvSpPr>
        <p:spPr>
          <a:xfrm>
            <a:off x="12520679" y="7162355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8" name="Shape 86"/>
          <p:cNvSpPr/>
          <p:nvPr/>
        </p:nvSpPr>
        <p:spPr>
          <a:xfrm>
            <a:off x="13755523" y="7151772"/>
            <a:ext cx="181586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3755523" y="7151772"/>
            <a:ext cx="181586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0" name="Text 88"/>
          <p:cNvSpPr/>
          <p:nvPr/>
        </p:nvSpPr>
        <p:spPr>
          <a:xfrm>
            <a:off x="13717423" y="7162355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1" name="Shape 89"/>
          <p:cNvSpPr/>
          <p:nvPr/>
        </p:nvSpPr>
        <p:spPr>
          <a:xfrm>
            <a:off x="15571391" y="7151772"/>
            <a:ext cx="166885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5571391" y="7151772"/>
            <a:ext cx="166885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3" name="Text 91"/>
          <p:cNvSpPr/>
          <p:nvPr/>
        </p:nvSpPr>
        <p:spPr>
          <a:xfrm>
            <a:off x="15533291" y="7162355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4" name="Shape 92"/>
          <p:cNvSpPr/>
          <p:nvPr/>
        </p:nvSpPr>
        <p:spPr>
          <a:xfrm>
            <a:off x="1047750" y="8292623"/>
            <a:ext cx="16192501" cy="961760"/>
          </a:xfrm>
          <a:prstGeom prst="roundRect">
            <a:avLst>
              <a:gd name="adj" fmla="val 3961"/>
            </a:avLst>
          </a:prstGeom>
          <a:solidFill>
            <a:srgbClr val="F1E8D6"/>
          </a:solidFill>
          <a:ln/>
        </p:spPr>
      </p:sp>
      <p:sp>
        <p:nvSpPr>
          <p:cNvPr id="95" name="Shape 93"/>
          <p:cNvSpPr/>
          <p:nvPr/>
        </p:nvSpPr>
        <p:spPr>
          <a:xfrm>
            <a:off x="1047750" y="8292623"/>
            <a:ext cx="52917" cy="96176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6" name="Text 94"/>
          <p:cNvSpPr/>
          <p:nvPr/>
        </p:nvSpPr>
        <p:spPr>
          <a:xfrm>
            <a:off x="1386417" y="8613595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3071647" y="8463940"/>
            <a:ext cx="1429933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covers pieces; none controls surface confounds across architectures in a low-resource language with a mechanism account.</a:t>
            </a:r>
            <a:endParaRPr lang="en-US" sz="1950" dirty="0"/>
          </a:p>
        </p:txBody>
      </p:sp>
      <p:sp>
        <p:nvSpPr>
          <p:cNvPr id="98" name="Shape 9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9" name="Text 9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map the design space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81609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axis: pretraining objective. Y axis: language coverage. Bubble size: parameter scale (0.56B to 8B). Badge: verdict.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 rot="10800000">
            <a:off x="1010527" y="2559703"/>
            <a:ext cx="314325" cy="554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20978" y="7630592"/>
            <a:ext cx="15819273" cy="2116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7" name="Shape 5"/>
          <p:cNvSpPr/>
          <p:nvPr/>
        </p:nvSpPr>
        <p:spPr>
          <a:xfrm>
            <a:off x="1420978" y="2562001"/>
            <a:ext cx="21167" cy="508975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8" name="Shape 6"/>
          <p:cNvSpPr/>
          <p:nvPr/>
        </p:nvSpPr>
        <p:spPr>
          <a:xfrm>
            <a:off x="6702889" y="2562001"/>
            <a:ext cx="9525" cy="506859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" name="Shape 7"/>
          <p:cNvSpPr/>
          <p:nvPr/>
        </p:nvSpPr>
        <p:spPr>
          <a:xfrm>
            <a:off x="11963633" y="2562001"/>
            <a:ext cx="9525" cy="506859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1442145" y="5349717"/>
            <a:ext cx="15798107" cy="9525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Text 9"/>
          <p:cNvSpPr/>
          <p:nvPr/>
        </p:nvSpPr>
        <p:spPr>
          <a:xfrm>
            <a:off x="1575428" y="2657251"/>
            <a:ext cx="1966483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+ Bangla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575428" y="7282168"/>
            <a:ext cx="1349838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English-heavy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3632399" y="3587262"/>
            <a:ext cx="990534" cy="990534"/>
          </a:xfrm>
          <a:prstGeom prst="ellipse">
            <a:avLst/>
          </a:prstGeom>
          <a:solidFill>
            <a:srgbClr val="2F6FA6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8418" y="3835805"/>
            <a:ext cx="758494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3873765" y="4102538"/>
            <a:ext cx="507802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3619004" y="4417722"/>
            <a:ext cx="1017323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2F6FA6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15312" y="4475931"/>
            <a:ext cx="824706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79115" y="3117791"/>
            <a:ext cx="1524000" cy="1524000"/>
          </a:xfrm>
          <a:prstGeom prst="ellipse">
            <a:avLst/>
          </a:prstGeom>
          <a:solidFill>
            <a:srgbClr val="3A9A55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01014" y="3633067"/>
            <a:ext cx="880203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132193" y="3899801"/>
            <a:ext cx="417843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8817323" y="4481719"/>
            <a:ext cx="1047585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3A9A55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13631" y="4539927"/>
            <a:ext cx="854968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925931" y="3656632"/>
            <a:ext cx="1257267" cy="1257267"/>
          </a:xfrm>
          <a:prstGeom prst="ellipse">
            <a:avLst/>
          </a:prstGeom>
          <a:solidFill>
            <a:srgbClr val="8A5CB0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294627" y="4038624"/>
            <a:ext cx="519873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4345560" y="4305357"/>
            <a:ext cx="417843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3822743" y="4753826"/>
            <a:ext cx="1463477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8A5CB0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919052" y="4812034"/>
            <a:ext cx="127086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50590" y="5724847"/>
            <a:ext cx="1581051" cy="1581051"/>
          </a:xfrm>
          <a:prstGeom prst="ellipse">
            <a:avLst/>
          </a:prstGeom>
          <a:solidFill>
            <a:srgbClr val="C33F3C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92047" y="6268731"/>
            <a:ext cx="698136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9199580" y="6535464"/>
            <a:ext cx="283071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8460714" y="5581972"/>
            <a:ext cx="1760637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C33F3C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57022" y="5640180"/>
            <a:ext cx="156802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41883" y="7766025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encoder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14862" y="7766025"/>
            <a:ext cx="5431341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decoder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8010" y="7766025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Span-corruption enc-dec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83689" y="8108660"/>
            <a:ext cx="16293851" cy="278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OBJECTIVE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47750" y="855812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855812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9" name="Text 37"/>
          <p:cNvSpPr/>
          <p:nvPr/>
        </p:nvSpPr>
        <p:spPr>
          <a:xfrm>
            <a:off x="1386417" y="8729439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071647" y="8734566"/>
            <a:ext cx="89839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 language coverage, not scale, decide cross-lingual transfer.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2" name="Text 40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bilingual stimulus set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48343"/>
            <a:ext cx="3862421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551410"/>
            <a:ext cx="3978293" cy="66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1047750" y="3275377"/>
            <a:ext cx="397829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items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57722" y="2348343"/>
            <a:ext cx="3862421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" name="Text 6"/>
          <p:cNvSpPr/>
          <p:nvPr/>
        </p:nvSpPr>
        <p:spPr>
          <a:xfrm>
            <a:off x="5157722" y="2551410"/>
            <a:ext cx="3978293" cy="66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4950" dirty="0"/>
          </a:p>
        </p:txBody>
      </p:sp>
      <p:sp>
        <p:nvSpPr>
          <p:cNvPr id="9" name="Text 7"/>
          <p:cNvSpPr/>
          <p:nvPr/>
        </p:nvSpPr>
        <p:spPr>
          <a:xfrm>
            <a:off x="5157722" y="3275377"/>
            <a:ext cx="397829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Bangla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67693" y="2348343"/>
            <a:ext cx="3862421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9267693" y="2551410"/>
            <a:ext cx="3978293" cy="66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950" dirty="0"/>
          </a:p>
        </p:txBody>
      </p:sp>
      <p:sp>
        <p:nvSpPr>
          <p:cNvPr id="12" name="Text 10"/>
          <p:cNvSpPr/>
          <p:nvPr/>
        </p:nvSpPr>
        <p:spPr>
          <a:xfrm>
            <a:off x="9267693" y="3275377"/>
            <a:ext cx="397829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phonological categories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77665" y="2348343"/>
            <a:ext cx="3862586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3377665" y="2551410"/>
            <a:ext cx="3978464" cy="66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950" dirty="0"/>
          </a:p>
        </p:txBody>
      </p:sp>
      <p:sp>
        <p:nvSpPr>
          <p:cNvPr id="15" name="Text 13"/>
          <p:cNvSpPr/>
          <p:nvPr/>
        </p:nvSpPr>
        <p:spPr>
          <a:xfrm>
            <a:off x="13377665" y="3275377"/>
            <a:ext cx="397846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columns / item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3938321"/>
            <a:ext cx="1086046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phonological task categories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4456408"/>
            <a:ext cx="1884660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7883" y="4581291"/>
            <a:ext cx="1520594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pair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3046677" y="4456408"/>
            <a:ext cx="1926001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6810" y="4581291"/>
            <a:ext cx="1561935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Multisyllabic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086945" y="4456408"/>
            <a:ext cx="1925671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7079" y="4581291"/>
            <a:ext cx="1561604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Pseudoword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7126883" y="4456408"/>
            <a:ext cx="1623219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7016" y="4581291"/>
            <a:ext cx="1259152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word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5167145"/>
            <a:ext cx="2820128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7883" y="5292028"/>
            <a:ext cx="2464465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Phoneme-grapheme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3982145" y="5167145"/>
            <a:ext cx="1265701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2278" y="5292028"/>
            <a:ext cx="901634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5362112" y="5167145"/>
            <a:ext cx="1541033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82246" y="5292028"/>
            <a:ext cx="1176966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2163392" y="3938321"/>
            <a:ext cx="21167" cy="1229817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2" name="Text 30"/>
          <p:cNvSpPr/>
          <p:nvPr/>
        </p:nvSpPr>
        <p:spPr>
          <a:xfrm>
            <a:off x="12451127" y="3938321"/>
            <a:ext cx="4932627" cy="397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Native-speaker validated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Bangla.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451127" y="4449793"/>
            <a:ext cx="4932627" cy="756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subset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50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/lang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chars: EN 6.88 · BN 5.20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5" name="Text 3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four pretraining recipes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3238500" y="2369509"/>
            <a:ext cx="338898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5" name="Text 3"/>
          <p:cNvSpPr/>
          <p:nvPr/>
        </p:nvSpPr>
        <p:spPr>
          <a:xfrm>
            <a:off x="3448017" y="2566293"/>
            <a:ext cx="182079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27482" y="2369509"/>
            <a:ext cx="3517966" cy="42333"/>
          </a:xfrm>
          <a:prstGeom prst="rect">
            <a:avLst/>
          </a:prstGeom>
          <a:solidFill>
            <a:srgbClr val="C33F3C"/>
          </a:solidFill>
          <a:ln/>
        </p:spPr>
      </p:sp>
      <p:sp>
        <p:nvSpPr>
          <p:cNvPr id="7" name="Text 5"/>
          <p:cNvSpPr/>
          <p:nvPr/>
        </p:nvSpPr>
        <p:spPr>
          <a:xfrm>
            <a:off x="6836999" y="2566293"/>
            <a:ext cx="190314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145448" y="2369509"/>
            <a:ext cx="3398573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10354966" y="2566293"/>
            <a:ext cx="182691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44021" y="2369509"/>
            <a:ext cx="3696229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1" name="Text 9"/>
          <p:cNvSpPr/>
          <p:nvPr/>
        </p:nvSpPr>
        <p:spPr>
          <a:xfrm>
            <a:off x="13753538" y="2566293"/>
            <a:ext cx="1158677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3121918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3255268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448050" y="3255268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37032" y="3255268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354998" y="3255268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753571" y="3255268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7300" y="3868605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48050" y="3868605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37032" y="3868605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354998" y="3868605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753571" y="3868605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4348593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4481943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3448050" y="4481943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837032" y="4481943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English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354998" y="4481943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753571" y="4481943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57300" y="5095280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3448050" y="5095280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837032" y="5095280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354998" y="5095280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3753571" y="5095280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(encoder)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5575267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" y="5708617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size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3448050" y="5708617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837032" y="5708617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354998" y="5708617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3753571" y="5708617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57300" y="6321954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3448050" y="6321954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6837032" y="6321954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0354998" y="6321954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3753571" y="6321954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(1.67B enc.)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47750" y="7144742"/>
            <a:ext cx="114892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2253754" y="7144742"/>
            <a:ext cx="1405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2451365" y="7144742"/>
            <a:ext cx="1040280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GPU-hours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24 GB consumer GPU; the 7-8B decoders run 4-bit quantized.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9" name="Text 4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frozen-model probing pipeline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62593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fine-tuning, no weight updates. Every model stays frozen.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2714129"/>
            <a:ext cx="16192501" cy="5495065"/>
          </a:xfrm>
          <a:prstGeom prst="roundRect">
            <a:avLst>
              <a:gd name="adj" fmla="val 1387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37227" y="4795077"/>
            <a:ext cx="3613547" cy="493117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0583">
            <a:solidFill>
              <a:srgbClr val="D8CC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5057" y="4881860"/>
            <a:ext cx="3357887" cy="35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324" kern="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89004" y="5459512"/>
            <a:ext cx="1110999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frozen LLM → per-layer hidden states → linear probe → sanity checks → transfer → RSA → ablation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8457282"/>
            <a:ext cx="16192501" cy="763488"/>
          </a:xfrm>
          <a:prstGeom prst="roundRect">
            <a:avLst>
              <a:gd name="adj" fmla="val 4990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8457282"/>
            <a:ext cx="52917" cy="763488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386417" y="8679036"/>
            <a:ext cx="85820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943" y="8628599"/>
            <a:ext cx="156897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1876" y="8696333"/>
            <a:ext cx="135731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LLM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1189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423007" y="8628599"/>
            <a:ext cx="2800945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6940" y="8696333"/>
            <a:ext cx="2597107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hidden states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38219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700037" y="8628599"/>
            <a:ext cx="167100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3970" y="8696333"/>
            <a:ext cx="145934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probe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85313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847130" y="8628599"/>
            <a:ext cx="1811073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1064" y="8696333"/>
            <a:ext cx="1599406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2471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134288" y="8628599"/>
            <a:ext cx="1188971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78222" y="8696333"/>
            <a:ext cx="977305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437526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799345" y="8628599"/>
            <a:ext cx="76993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43278" y="8696333"/>
            <a:ext cx="558271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83549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045367" y="8628599"/>
            <a:ext cx="120120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89300" y="8696333"/>
            <a:ext cx="989542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2653501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SANITY CHECKS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"phonological" tasks fail surface controls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1126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7850" y="2473028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639" y="2473028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Voicing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from the first character alone </a:t>
            </a:r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(100%)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3475964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7850" y="3657865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5639" y="3657865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Orthographic transparency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by character length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" y="4660801"/>
            <a:ext cx="6114356" cy="698169"/>
          </a:xfrm>
          <a:prstGeom prst="roundRect">
            <a:avLst>
              <a:gd name="adj" fmla="val 8186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7850" y="484270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75639" y="4842702"/>
            <a:ext cx="4167014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Syllable count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length-confounded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5511271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3A9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7850" y="569317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5639" y="5693172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real-vs-pseudo word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the controls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676390" y="2291126"/>
            <a:ext cx="9563861" cy="6266656"/>
          </a:xfrm>
          <a:prstGeom prst="roundRect">
            <a:avLst>
              <a:gd name="adj" fmla="val 1216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651464" y="4757870"/>
            <a:ext cx="3613547" cy="493117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0583">
            <a:solidFill>
              <a:srgbClr val="D8CC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79294" y="4844653"/>
            <a:ext cx="3357887" cy="35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324" kern="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92906" y="5422305"/>
            <a:ext cx="633083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Surface-confound sanity checks and length-matched recovery (panels A + B)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0" y="8558104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8558104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3" name="Text 21"/>
          <p:cNvSpPr/>
          <p:nvPr/>
        </p:nvSpPr>
        <p:spPr>
          <a:xfrm>
            <a:off x="1386417" y="8729422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1647" y="8734549"/>
            <a:ext cx="1082589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4 "phonological" tasks fail surface controls; only length-matched real-word survives.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4335125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CROSS-LINGUAL TRANSFER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transfer splits the field in two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742823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Bangla F1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(gain over surface)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275216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362068" y="278259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8" name="Shape 6"/>
          <p:cNvSpPr/>
          <p:nvPr/>
        </p:nvSpPr>
        <p:spPr>
          <a:xfrm>
            <a:off x="2362068" y="2782590"/>
            <a:ext cx="3953537" cy="285750"/>
          </a:xfrm>
          <a:prstGeom prst="roundRect">
            <a:avLst>
              <a:gd name="adj" fmla="val 16667"/>
            </a:avLst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6754681" y="275216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3232216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2362068" y="3262643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2" name="Shape 10"/>
          <p:cNvSpPr/>
          <p:nvPr/>
        </p:nvSpPr>
        <p:spPr>
          <a:xfrm>
            <a:off x="2362068" y="3262643"/>
            <a:ext cx="3695733" cy="285750"/>
          </a:xfrm>
          <a:prstGeom prst="roundRect">
            <a:avLst>
              <a:gd name="adj" fmla="val 16667"/>
            </a:avLst>
          </a:prstGeom>
          <a:solidFill>
            <a:srgbClr val="2F6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754681" y="3232216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3712270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2362068" y="3742697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62068" y="3742697"/>
            <a:ext cx="2707349" cy="285750"/>
          </a:xfrm>
          <a:prstGeom prst="roundRect">
            <a:avLst>
              <a:gd name="adj" fmla="val 16667"/>
            </a:avLst>
          </a:prstGeom>
          <a:solidFill>
            <a:srgbClr val="C33F3C"/>
          </a:solidFill>
          <a:ln/>
        </p:spPr>
      </p:sp>
      <p:sp>
        <p:nvSpPr>
          <p:cNvPr id="17" name="Text 15"/>
          <p:cNvSpPr/>
          <p:nvPr/>
        </p:nvSpPr>
        <p:spPr>
          <a:xfrm>
            <a:off x="6754681" y="3712270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419232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2362068" y="422275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20" name="Shape 18"/>
          <p:cNvSpPr/>
          <p:nvPr/>
        </p:nvSpPr>
        <p:spPr>
          <a:xfrm>
            <a:off x="2362068" y="4222750"/>
            <a:ext cx="2578365" cy="285750"/>
          </a:xfrm>
          <a:prstGeom prst="roundRect">
            <a:avLst>
              <a:gd name="adj" fmla="val 16667"/>
            </a:avLst>
          </a:prstGeom>
          <a:solidFill>
            <a:srgbClr val="8A5CB0"/>
          </a:solidFill>
          <a:ln/>
        </p:spPr>
      </p:sp>
      <p:sp>
        <p:nvSpPr>
          <p:cNvPr id="21" name="Text 19"/>
          <p:cNvSpPr/>
          <p:nvPr/>
        </p:nvSpPr>
        <p:spPr>
          <a:xfrm>
            <a:off x="6754681" y="419232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4805660"/>
            <a:ext cx="721188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4968644"/>
            <a:ext cx="742823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independently confirms this split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probing needed)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773914" y="2253093"/>
            <a:ext cx="8466336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200309" y="4738853"/>
            <a:ext cx="3613547" cy="493117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0583">
            <a:solidFill>
              <a:srgbClr val="D8CC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28139" y="4825637"/>
            <a:ext cx="3357887" cy="35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324" kern="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37251" y="5403288"/>
            <a:ext cx="553949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EN → BN transfer and causal-ablation specificity (panels C + D)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855810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855810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0" name="Text 28"/>
          <p:cNvSpPr/>
          <p:nvPr/>
        </p:nvSpPr>
        <p:spPr>
          <a:xfrm>
            <a:off x="1386417" y="8729419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071647" y="8734545"/>
            <a:ext cx="83176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+ XLM-R survive; Llama + mT5 collapse. Only mT5 localizes.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504107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LOCALIZATION IN MT5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mT5 localizes the cross-lingual signal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specificity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(top-20 drop minus random-10 drop)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2771180"/>
            <a:ext cx="1627188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7784" y="2953081"/>
            <a:ext cx="11871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67784" y="3486382"/>
            <a:ext cx="11871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8222" y="2771180"/>
            <a:ext cx="1601887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8256" y="2953081"/>
            <a:ext cx="11618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028256" y="3486382"/>
            <a:ext cx="11618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4159416"/>
            <a:ext cx="6620894" cy="79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persistent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units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u782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u1880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across encoder depth.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5084465"/>
            <a:ext cx="642805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228332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stay near chance: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563215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+0.004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-0.022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990086" y="2253093"/>
            <a:ext cx="9250164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808395" y="4738853"/>
            <a:ext cx="3613547" cy="493117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0583">
            <a:solidFill>
              <a:srgbClr val="D8CC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36225" y="4825637"/>
            <a:ext cx="3357887" cy="35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spc="324" kern="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62767" y="5403288"/>
            <a:ext cx="610463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localization across depth + two persistent backbone units u782, u1880 (panels E + F)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8558096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8558096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2" name="Text 20"/>
          <p:cNvSpPr/>
          <p:nvPr/>
        </p:nvSpPr>
        <p:spPr>
          <a:xfrm>
            <a:off x="1386417" y="8729413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71647" y="8734540"/>
            <a:ext cx="978196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mechanism: 2 persistent backbone units plus layer-specialized circuits.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62707" y="9681435"/>
            <a:ext cx="8537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051893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RECOMMENDATION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1424451"/>
            <a:ext cx="16192501" cy="1434538"/>
          </a:xfrm>
          <a:prstGeom prst="roundRect">
            <a:avLst>
              <a:gd name="adj" fmla="val 5312"/>
            </a:avLst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1710201"/>
            <a:ext cx="1589341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2125266"/>
            <a:ext cx="15893416" cy="486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recipe beats scale: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7FD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 XLM-R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0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Llama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cross-lingually.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182772"/>
            <a:ext cx="3876642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4913809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Shape 9"/>
          <p:cNvSpPr/>
          <p:nvPr/>
        </p:nvSpPr>
        <p:spPr>
          <a:xfrm>
            <a:off x="1286867" y="3472656"/>
            <a:ext cx="171318" cy="171318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6867" y="3777258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6867" y="4337182"/>
            <a:ext cx="350036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low-resource Bangla screening prototype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152926" y="9209650"/>
            <a:ext cx="3876808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5" name="Shape 13"/>
          <p:cNvSpPr/>
          <p:nvPr/>
        </p:nvSpPr>
        <p:spPr>
          <a:xfrm>
            <a:off x="5152926" y="3182772"/>
            <a:ext cx="3876808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1529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91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2043" y="3472656"/>
            <a:ext cx="171318" cy="171318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2043" y="3777258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2043" y="4337182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&amp; mechanism studies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258267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8267" y="3182772"/>
            <a:ext cx="387664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23" name="Shape 21"/>
          <p:cNvSpPr/>
          <p:nvPr/>
        </p:nvSpPr>
        <p:spPr>
          <a:xfrm>
            <a:off x="9258267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Shape 22"/>
          <p:cNvSpPr/>
          <p:nvPr/>
        </p:nvSpPr>
        <p:spPr>
          <a:xfrm>
            <a:off x="131243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Shape 23"/>
          <p:cNvSpPr/>
          <p:nvPr/>
        </p:nvSpPr>
        <p:spPr>
          <a:xfrm>
            <a:off x="9497385" y="3472656"/>
            <a:ext cx="171318" cy="171318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26" name="Text 24"/>
          <p:cNvSpPr/>
          <p:nvPr/>
        </p:nvSpPr>
        <p:spPr>
          <a:xfrm>
            <a:off x="9497385" y="3777258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97385" y="4337182"/>
            <a:ext cx="3500360" cy="101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Hardware-constrained deployment (0.86 BN F1 at 0.56B)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363444" y="3182772"/>
            <a:ext cx="3876808" cy="6037461"/>
          </a:xfrm>
          <a:prstGeom prst="roundRect">
            <a:avLst>
              <a:gd name="adj" fmla="val 1966"/>
            </a:avLst>
          </a:prstGeom>
          <a:solidFill>
            <a:srgbClr val="F3ECDB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363444" y="9209650"/>
            <a:ext cx="3876808" cy="10583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63444" y="3182772"/>
            <a:ext cx="3876808" cy="42333"/>
          </a:xfrm>
          <a:prstGeom prst="rect">
            <a:avLst/>
          </a:prstGeom>
          <a:solidFill>
            <a:srgbClr val="C33F3C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363444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229668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602560" y="3472656"/>
            <a:ext cx="171318" cy="171318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34" name="Text 32"/>
          <p:cNvSpPr/>
          <p:nvPr/>
        </p:nvSpPr>
        <p:spPr>
          <a:xfrm>
            <a:off x="13602560" y="3777258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602560" y="4337182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 cross-lingually at the lexical level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directions, honest evaluation first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295301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301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Native-clinician supervision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301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supervised clinical pipeline (clinician stimulus selection, validation against an existing battery, longitudinal follow-up) before any use on children.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15034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6515034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6762585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2585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expansion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2585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length-matched real-vs-pseudo set from n = 50 to n &gt;= 500 matched pairs per language, stratified by syllable count and morphology.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982319" y="2253093"/>
            <a:ext cx="5257933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82319" y="2253093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6" name="Text 14"/>
          <p:cNvSpPr/>
          <p:nvPr/>
        </p:nvSpPr>
        <p:spPr>
          <a:xfrm>
            <a:off x="12229869" y="2513377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29869" y="2827569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confound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29869" y="3173677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depth-scan ablation on ByT5, T5, and a T5-style model without span corruption to isolate what drives localization.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47750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301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301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Backbone-unit mechanism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301" y="6297414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what u782 and u1880 encode: stimulus-conditional firing, joint vs single ablation, sparse-autoencoder projection.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15034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034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585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2585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2585" y="6297414"/>
            <a:ext cx="4905546" cy="548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beyond Bangla to Hindi, Tamil, Urdu, and Swahili to test whether the BLOOM transfer recipe generalizes.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982319" y="5376830"/>
            <a:ext cx="5257933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82319" y="5376830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1" name="Text 29"/>
          <p:cNvSpPr/>
          <p:nvPr/>
        </p:nvSpPr>
        <p:spPr>
          <a:xfrm>
            <a:off x="12229869" y="5637113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229869" y="5951307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Clinical-task expansion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29869" y="6297414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surface-controlled probes for rapid automatized naming, non-word repetition, and rhyme detection (the fuller CTOPP-2 battery).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7750" y="8558382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7750" y="8558382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6" name="Text 34"/>
          <p:cNvSpPr/>
          <p:nvPr/>
        </p:nvSpPr>
        <p:spPr>
          <a:xfrm>
            <a:off x="1386417" y="8729700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071647" y="8734826"/>
            <a:ext cx="121428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evaluation first: the sanity-check failure of 3 of 4 tasks tells the next study where the floor is.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contributions, honestly bounded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6735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009650" y="236735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14335" y="2367359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Surface-feature sanity checks (first-character lookup + length-matching) as a required precondition for phonological probing claims.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34664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334664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4335" y="3346649"/>
            <a:ext cx="740354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of mT5's two-unit cross-lingual backbone.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089466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4089466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14335" y="4089466"/>
            <a:ext cx="773823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original, native-reviewed 440-item bilingual stimulus set.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4832284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4832284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14335" y="4832284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four-model study across the four canonical pretraining recipes.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18094" y="2367694"/>
            <a:ext cx="5822156" cy="3272400"/>
          </a:xfrm>
          <a:prstGeom prst="roundRect">
            <a:avLst>
              <a:gd name="adj" fmla="val 2329"/>
            </a:avLst>
          </a:prstGeom>
          <a:solidFill>
            <a:srgbClr val="F1E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741879" y="2710495"/>
            <a:ext cx="53298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CLAIM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41879" y="3220810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938662" y="3252560"/>
            <a:ext cx="5094948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subsets (n = 50 / lang): point estimates only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741879" y="4085667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38662" y="4117417"/>
            <a:ext cx="3770667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encoder-decoder probed: an architectural confound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741879" y="4950523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38662" y="4982274"/>
            <a:ext cx="4516522" cy="31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pre-clinical study, not a diagnostic tool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306134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3306134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3306134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3306134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818765"/>
            <a:ext cx="16678276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4942748"/>
            <a:ext cx="16678276" cy="5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6047908"/>
            <a:ext cx="572566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6443790"/>
            <a:ext cx="572566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lexical probing for dyslexia screening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368646" y="6047908"/>
            <a:ext cx="272537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8646" y="6443790"/>
            <a:ext cx="2725379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 · email · ID]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2026-06-10T05:45:02Z</dcterms:created>
  <dcterms:modified xsi:type="dcterms:W3CDTF">2026-06-10T05:45:02Z</dcterms:modified>
</cp:coreProperties>
</file>