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UNIVERSITY  ·  CSE400 THESIS  ·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Cross-Lingual Lexical Representations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Multilingual Large Language Models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Low-Resource Dyslexia Screening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3703320"/>
            <a:ext cx="3657600" cy="0"/>
          </a:xfrm>
          <a:prstGeom prst="line">
            <a:avLst/>
          </a:prstGeom>
          <a:noFill/>
          <a:ln w="19050">
            <a:solidFill>
              <a:srgbClr val="2C7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 Siddika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24341144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Nazmoon Nahar Aka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22101649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Mashrafi Rahman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24341197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Mohammad Sayem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22101116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4114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Farig Yousuf Sadeque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CSE, BRAC University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5257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Md. Tanzim Reza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CSE, BRAC University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screening has a low-resource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5836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dyslexia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5 to 12 % of school-age children depending on language and orthography.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screening relies on language-specific phonological batteries (CTOPP-2, etc.) administered by trained clinicians.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(270 M+ speakers) has no widely deployed normative screener and no consensus diagnostic battery.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cases are flagged late, or not at all.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LLMs already encode rich cross-lingual structure as a by-product of pretraining.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structure transfers from English to Bangla, one substrate could anchor many low-resource screeners.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0" y="1645920"/>
            <a:ext cx="41148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1783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M+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58952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speakers worldwide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normative dyslexia screener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4023360"/>
            <a:ext cx="41148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41148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58952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automated screeners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 for Bangla 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91440" cy="2011680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640080" cy="36576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847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In-language encoding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frozen multilingual LLM linearly encode phonological and lexical features in English, and at which layers do they emerge?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54864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645920"/>
            <a:ext cx="91440" cy="2011680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1874520"/>
            <a:ext cx="640080" cy="36576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1847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transfer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that encoding transfer zero-shot from English to Bangla after surface-feature controls (first-character, character-statistic, length-matched)?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31920"/>
            <a:ext cx="91440" cy="2011680"/>
          </a:xfrm>
          <a:prstGeom prst="rect">
            <a:avLst/>
          </a:prstGeom>
          <a:solidFill>
            <a:srgbClr val="D9923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60520"/>
            <a:ext cx="640080" cy="365760"/>
          </a:xfrm>
          <a:prstGeom prst="rect">
            <a:avLst/>
          </a:prstGeom>
          <a:solidFill>
            <a:srgbClr val="A36B2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133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and localisation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cross-lingual signal distributed across hidden units or causally localised to a small subset, and does the subset persist across encoder depth?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54864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3931920"/>
            <a:ext cx="91440" cy="2011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4160520"/>
            <a:ext cx="640080" cy="365760"/>
          </a:xfrm>
          <a:prstGeom prst="rect">
            <a:avLst/>
          </a:prstGeom>
          <a:solidFill>
            <a:srgbClr val="8C3C3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4133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4709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of pretraining objective and language coverage best supports surface-controlled cross-lingual lexical transfer at consumer-GPU scale?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PROBE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multilingual LLMs span the four pretraining recipes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28900" cy="54864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 large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6289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22631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 B params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langs · Bangla explicit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 · tests if objective beats scale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0420" y="1554480"/>
            <a:ext cx="2628900" cy="548640"/>
          </a:xfrm>
          <a:prstGeom prst="rect">
            <a:avLst/>
          </a:prstGeom>
          <a:solidFill>
            <a:srgbClr val="A36B23"/>
          </a:solidFill>
          <a:ln/>
        </p:spPr>
      </p:sp>
      <p:sp>
        <p:nvSpPr>
          <p:cNvPr id="10" name="Text 8"/>
          <p:cNvSpPr/>
          <p:nvPr/>
        </p:nvSpPr>
        <p:spPr>
          <a:xfrm>
            <a:off x="3360420" y="155448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0420" y="2103120"/>
            <a:ext cx="26289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240280"/>
            <a:ext cx="22631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 params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English-heavy · Bangla minimal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model · tests if scale alone gives transfer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2628900" cy="548640"/>
          </a:xfrm>
          <a:prstGeom prst="rect">
            <a:avLst/>
          </a:prstGeom>
          <a:solidFill>
            <a:srgbClr val="8C3C32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55448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7B1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2103120"/>
            <a:ext cx="26289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240280"/>
            <a:ext cx="22631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B params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LM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langs · Bangla in ROOTS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decoder · pairs cleanly with Llama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83980" y="1554480"/>
            <a:ext cx="2628900" cy="548640"/>
          </a:xfrm>
          <a:prstGeom prst="rect">
            <a:avLst/>
          </a:prstGeom>
          <a:solidFill>
            <a:srgbClr val="5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8983980" y="155448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XL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83980" y="2103120"/>
            <a:ext cx="2628900" cy="3931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66860" y="2240280"/>
            <a:ext cx="22631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B (1.67 B encoder)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corruption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langs · Bangla explicit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spc="4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encoder-decoder · only model that localises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PROBE THEM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55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fig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735824" cy="4261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301752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823960" y="1691640"/>
            <a:ext cx="2743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for all four models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stimuli (EN + BN) feed each frozen LLM.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hidden states extracted and mean-pooled.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probe (LogReg / Ridge) trained per layer per task.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Surface-feature sanity checks gate every claim.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and causal forward-hook ablation finish the picture.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FEED THEM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440-stimulus dataset, native-verified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stimuli  ·  220 EN  +  220 BN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  ·  18 metadata 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41148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GROUNDED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Badsha (2024)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Dhaka Master's dissertation; published in IJFMR vol. 6, no. 3.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difficulty patterns of 5 dyslexic Bangla-speaking primary-school children.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task categories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pair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 ·  </a:t>
            </a:r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 ·  </a:t>
            </a:r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Pseudoword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word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·  </a:t>
            </a:r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Phoneme-grapheme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 ·  </a:t>
            </a:r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Rhyme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 ·  </a:t>
            </a:r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 </a:t>
            </a:r>
            <a:pPr indent="0" marL="0">
              <a:buNone/>
            </a:pPr>
            <a:r>
              <a:rPr lang="en-US" sz="13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017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voicing pairs (from Badsha 2024)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3474720"/>
            <a:ext cx="1280160" cy="1280160"/>
          </a:xfrm>
          <a:prstGeom prst="rect">
            <a:avLst/>
          </a:prstGeom>
          <a:solidFill>
            <a:srgbClr val="F0E5D0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Noto Serif Bengali" pitchFamily="34" charset="0"/>
                <a:ea typeface="Noto Serif Bengali" pitchFamily="34" charset="-122"/>
                <a:cs typeface="Noto Serif Bengali" pitchFamily="34" charset="-120"/>
              </a:rPr>
              <a:t>ক / 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/ 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474720"/>
            <a:ext cx="1280160" cy="1280160"/>
          </a:xfrm>
          <a:prstGeom prst="rect">
            <a:avLst/>
          </a:prstGeom>
          <a:solidFill>
            <a:srgbClr val="F0E5D0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Noto Serif Bengali" pitchFamily="34" charset="0"/>
                <a:ea typeface="Noto Serif Bengali" pitchFamily="34" charset="-122"/>
                <a:cs typeface="Noto Serif Bengali" pitchFamily="34" charset="-120"/>
              </a:rPr>
              <a:t>প / 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/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1280160" cy="1280160"/>
          </a:xfrm>
          <a:prstGeom prst="rect">
            <a:avLst/>
          </a:prstGeom>
          <a:solidFill>
            <a:srgbClr val="F0E5D0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Noto Serif Bengali" pitchFamily="34" charset="0"/>
                <a:ea typeface="Noto Serif Bengali" pitchFamily="34" charset="-122"/>
                <a:cs typeface="Noto Serif Bengali" pitchFamily="34" charset="-120"/>
              </a:rPr>
              <a:t>ত / দ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86384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/ 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81160" y="3474720"/>
            <a:ext cx="1280160" cy="1280160"/>
          </a:xfrm>
          <a:prstGeom prst="rect">
            <a:avLst/>
          </a:prstGeom>
          <a:solidFill>
            <a:srgbClr val="F0E5D0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Noto Serif Bengali" pitchFamily="34" charset="0"/>
                <a:ea typeface="Noto Serif Bengali" pitchFamily="34" charset="-122"/>
                <a:cs typeface="Noto Serif Bengali" pitchFamily="34" charset="-120"/>
              </a:rPr>
              <a:t>ট / 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28116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ṭ / 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98480" y="3474720"/>
            <a:ext cx="1280160" cy="1280160"/>
          </a:xfrm>
          <a:prstGeom prst="rect">
            <a:avLst/>
          </a:prstGeom>
          <a:solidFill>
            <a:srgbClr val="F0E5D0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Noto Serif Bengali" pitchFamily="34" charset="0"/>
                <a:ea typeface="Noto Serif Bengali" pitchFamily="34" charset="-122"/>
                <a:cs typeface="Noto Serif Bengali" pitchFamily="34" charset="-120"/>
              </a:rPr>
              <a:t>চ / জ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069848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j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4937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Voiced vs Unvoiced stop contrasts — the core of the minimal-pair category.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53949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items inspected by a native speaker for orthographic validity. Pseudowords re-checked to remove accidental real words.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linear probing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55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fig_prob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735824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301752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823960" y="169164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no fine-tuning.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linear probe per layer per task.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L2-regularised LogReg (classification) or Ridge (regression).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English-trained probe tested twice: held-out EN and zero-shot BN.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peak layer + 5-fold CV.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forward-hook ablation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55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fig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735824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301752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823960" y="1691640"/>
            <a:ext cx="2743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signal </a:t>
            </a:r>
            <a:pPr indent="0" marL="0">
              <a:spcAft>
                <a:spcPts val="500"/>
              </a:spcAft>
              <a:buNone/>
            </a:pPr>
            <a:r>
              <a:rPr lang="en-US" sz="1200" b="1" i="1" dirty="0">
                <a:solidFill>
                  <a:srgbClr val="D99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live?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probe at L_measure.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 3 layers earlier zeroes K units.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top-K (probe-ranked) vs random-K (3 seeds).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= ΔF1_top − ΔF1_random.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In-language English probing across 4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55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plots_four_models_engli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735824" cy="4261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3017520" cy="4480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8239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per-task F1 / R²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0" y="2103120"/>
          <a:ext cx="274320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 – 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 – 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 – 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 – 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823960" y="40233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signal on every task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pPr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read these numbers yet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of the four are surface artefacts.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METHODOLOGY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tasks fail surface-feature sanity checks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4980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plots_bn_voicing_san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278624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554480"/>
            <a:ext cx="347472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50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voicing = first character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66760" y="219456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probe at L0 recovers BN voicing at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0.78 – 0.94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all four models.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upper bound = 1.00. The probe is reading letter identity, not voicing.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do not beat a 5-feature character-statistic baseline.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real-vs-pseudo word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survives, after 1:1 length matching.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RESULT · THE HEADLINE NUMBER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Length-matched cross-lingual transfer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0408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plots_transfer_realword_match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6821424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554480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0" y="1554480"/>
            <a:ext cx="91440" cy="1051560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16276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7B1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transfer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87552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0789920" y="18470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8755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F1   gain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0" y="2715768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0" y="2715768"/>
            <a:ext cx="91440" cy="1051560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 large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55280" y="3218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transfer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875520" y="276148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0789920" y="300837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F1   gain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72400" y="3877056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0" y="3877056"/>
            <a:ext cx="91440" cy="1051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0"/>
          <p:cNvSpPr/>
          <p:nvPr/>
        </p:nvSpPr>
        <p:spPr>
          <a:xfrm>
            <a:off x="7955280" y="3950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955280" y="4379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to surface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875520" y="39227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0789920" y="4169664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875520" y="4562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F1   gain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772400" y="5038344"/>
            <a:ext cx="393192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7772400" y="5038344"/>
            <a:ext cx="91440" cy="1051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Text 27"/>
          <p:cNvSpPr/>
          <p:nvPr/>
        </p:nvSpPr>
        <p:spPr>
          <a:xfrm>
            <a:off x="7955280" y="51114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XL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955280" y="5541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below surface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875520" y="508406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2800" dirty="0"/>
          </a:p>
        </p:txBody>
      </p:sp>
      <p:sp>
        <p:nvSpPr>
          <p:cNvPr id="33" name="Text 30"/>
          <p:cNvSpPr/>
          <p:nvPr/>
        </p:nvSpPr>
        <p:spPr>
          <a:xfrm>
            <a:off x="10789920" y="53309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0" y="5724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F1   gain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ablation — only mT5 localises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955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plots_four_models_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735824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554480"/>
            <a:ext cx="301752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82396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specificity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23960" y="2103120"/>
          <a:ext cx="2743200" cy="173736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XLM-R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(chance)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2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7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8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823960" y="41148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alone shows clean specificity.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 and BLOOM distribute the signal across many units.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has no BN transfer to disrupt.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EXTENSION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has a two-unit backbone across encoder depth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77240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8AC"/>
            </a:solidFill>
            <a:prstDash val="solid"/>
          </a:ln>
        </p:spPr>
      </p:sp>
      <p:pic>
        <p:nvPicPr>
          <p:cNvPr id="6" name="Image 0" descr="/home/accesx-denied/Ayesha/Dyslexia/FINAL YEAR THESIS Template_CSE400_Fall 2024 ONWARDS/images/fig_mt5_backb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7552944" cy="4352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03920" y="1554480"/>
            <a:ext cx="3200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92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u782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41080" y="2286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at L4 · L8 · L12 · L16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at L20.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99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unit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03920" y="3931920"/>
            <a:ext cx="32004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4069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u1880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41080" y="4663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at L8 · L12 · L16 · L20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at L4.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unit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· PAIRED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four different roles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1097280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37360"/>
            <a:ext cx="1463040" cy="36576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7B1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low-resource Bangla screening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cross-lingual transfer (0.92 BN F1). Survives surface controls. Frozen feature extractor — no fine-tuning needed.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1155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61488"/>
            <a:ext cx="91440" cy="1097280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944368"/>
            <a:ext cx="1463040" cy="36576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XL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34015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and mechanism studies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94436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model whose cross-lingual signal localises. Two-unit backbone (u782, u1880) makes mechanism recoverable.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11155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68496"/>
            <a:ext cx="91440" cy="1097280"/>
          </a:xfrm>
          <a:prstGeom prst="rect">
            <a:avLst/>
          </a:prstGeom>
          <a:solidFill>
            <a:srgbClr val="D9923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151376"/>
            <a:ext cx="1463040" cy="365760"/>
          </a:xfrm>
          <a:prstGeom prst="rect">
            <a:avLst/>
          </a:prstGeom>
          <a:solidFill>
            <a:srgbClr val="A36B2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1513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SMALL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41056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 large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46085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Hardware-constrained deployments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1513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 BN F1 at 0.56 B parameters. Runs in 16-bit on a single consumer GPU. 13× smaller than BLOOM.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75504"/>
            <a:ext cx="1115568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175504"/>
            <a:ext cx="91440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" y="5358384"/>
            <a:ext cx="1463040" cy="365760"/>
          </a:xfrm>
          <a:prstGeom prst="rect">
            <a:avLst/>
          </a:prstGeom>
          <a:solidFill>
            <a:srgbClr val="8C3C3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583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5312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77240" y="581558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cross-lingual Bangla setting at lexical level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535838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Length-matched transfer collapses (0.63 BN F1, +0.01 over surface). Pretraining language coverage matters more than scale.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· WHAT COMES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length-matched subset (n = 50 per language). Point estimates only.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BN voicing labels unusable — recoverable from first character.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baseline = 1.00 after matching; only BN drop is interpretable in ablation.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is the only encoder-decoder probed — objective vs split confound open.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specificity marginally negative (−0.02) — distributed redundancy, reported honestly.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C7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574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Clinician-supervised pipeline before any contact with children.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500+ matched pairs per language, stratified.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ByT5 and T5 to resolve the encoder-decoder confound.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follow-up on u782 and u1880 (paired ablation, SAE projection).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BLOOM recipe to Hindi, Tamil, Urdu, Swahili.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D6C8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5A4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 0.92  ·  XLM-R 0.86  ·  Llama 0.63  ·  mT5 0.60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6B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backbone units: u782 and u1880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C97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DysLex-Probe  ·  BRAC University CSE400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DysLex-Probe Defense</dc:title>
  <dc:subject>PptxGenJS Presentation</dc:subject>
  <dc:creator>DysLex-Probe team</dc:creator>
  <cp:lastModifiedBy>DysLex-Probe team</cp:lastModifiedBy>
  <cp:revision>1</cp:revision>
  <dcterms:created xsi:type="dcterms:W3CDTF">2026-06-07T16:57:29Z</dcterms:created>
  <dcterms:modified xsi:type="dcterms:W3CDTF">2026-06-07T16:57:29Z</dcterms:modified>
</cp:coreProperties>
</file>